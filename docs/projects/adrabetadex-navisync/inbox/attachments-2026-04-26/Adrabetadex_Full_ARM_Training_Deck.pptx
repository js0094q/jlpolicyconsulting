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804672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Calibri"/>
              </a:defRPr>
            </a:pPr>
            <a:r>
              <a:t>Adrabetadex Full ARM Training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4183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66070"/>
                </a:solidFill>
                <a:latin typeface="Calibri"/>
              </a:defRPr>
            </a:pPr>
            <a:r>
              <a:t>Decision-based field execution, not reference-only guidance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6537960"/>
            <a:ext cx="37490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66070"/>
                </a:solidFill>
                <a:latin typeface="Calibri"/>
              </a:defRPr>
            </a:pPr>
            <a:r>
              <a:t>JL Policy Consulting | Adrabetadex ARM Training System |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73736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b="1" sz="2200">
                <a:solidFill>
                  <a:srgbClr val="18212F"/>
                </a:solidFill>
                <a:latin typeface="Calibri"/>
              </a:defRPr>
            </a:pPr>
            <a:r>
              <a:t>Training objective</a:t>
            </a:r>
          </a:p>
          <a:p>
            <a:pPr lvl="1">
              <a:spcAft>
                <a:spcPts val="500"/>
              </a:spcAft>
              <a:defRPr sz="1600">
                <a:solidFill>
                  <a:srgbClr val="18212F"/>
                </a:solidFill>
                <a:latin typeface="Calibri"/>
              </a:defRPr>
            </a:pPr>
            <a:r>
              <a:t>Train ARMs to identify the correct claim pathway every time.</a:t>
            </a:r>
          </a:p>
          <a:p>
            <a:pPr lvl="1">
              <a:spcAft>
                <a:spcPts val="500"/>
              </a:spcAft>
              <a:defRPr sz="1600">
                <a:solidFill>
                  <a:srgbClr val="18212F"/>
                </a:solidFill>
                <a:latin typeface="Calibri"/>
              </a:defRPr>
            </a:pPr>
            <a:r>
              <a:t>Train ARMs to validate payer and operational controls before first administration.</a:t>
            </a:r>
          </a:p>
          <a:p>
            <a:pPr lvl="1">
              <a:spcAft>
                <a:spcPts val="500"/>
              </a:spcAft>
              <a:defRPr sz="1600">
                <a:solidFill>
                  <a:srgbClr val="18212F"/>
                </a:solidFill>
                <a:latin typeface="Calibri"/>
              </a:defRPr>
            </a:pPr>
            <a:r>
              <a:t>Train ARMs to translate reimbursement mechanics into provider adoption decisions.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804672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Calibri"/>
              </a:defRPr>
            </a:pPr>
            <a:r>
              <a:t>Direct Diagnosis of Current-State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6537960"/>
            <a:ext cx="37490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66070"/>
                </a:solidFill>
                <a:latin typeface="Calibri"/>
              </a:defRPr>
            </a:pPr>
            <a:r>
              <a:t>JL Policy Consulting | Adrabetadex ARM Training System |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39496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b="1" sz="1800">
                <a:solidFill>
                  <a:srgbClr val="0E3F6C"/>
                </a:solidFill>
                <a:latin typeface="Calibri"/>
              </a:defRPr>
            </a:pPr>
            <a:r>
              <a:t>Observed issues</a:t>
            </a:r>
          </a:p>
          <a:p>
            <a:pPr lvl="1">
              <a:spcAft>
                <a:spcPts val="500"/>
              </a:spcAft>
              <a:defRPr sz="1400">
                <a:solidFill>
                  <a:srgbClr val="18212F"/>
                </a:solidFill>
                <a:latin typeface="Calibri"/>
              </a:defRPr>
            </a:pPr>
            <a:r>
              <a:t>Reference-heavy content, not training-led instruction.</a:t>
            </a:r>
          </a:p>
          <a:p>
            <a:pPr lvl="1">
              <a:spcAft>
                <a:spcPts val="500"/>
              </a:spcAft>
              <a:defRPr sz="1400">
                <a:solidFill>
                  <a:srgbClr val="18212F"/>
                </a:solidFill>
                <a:latin typeface="Calibri"/>
              </a:defRPr>
            </a:pPr>
            <a:r>
              <a:t>Limited if-this-then-that decision logic across payer, site, and pathway.</a:t>
            </a:r>
          </a:p>
          <a:p>
            <a:pPr lvl="1">
              <a:spcAft>
                <a:spcPts val="500"/>
              </a:spcAft>
              <a:defRPr sz="1400">
                <a:solidFill>
                  <a:srgbClr val="18212F"/>
                </a:solidFill>
                <a:latin typeface="Calibri"/>
              </a:defRPr>
            </a:pPr>
            <a:r>
              <a:t>Low reinforcement of hard rules and failure controls.</a:t>
            </a:r>
          </a:p>
          <a:p>
            <a:pPr lvl="1">
              <a:spcAft>
                <a:spcPts val="500"/>
              </a:spcAft>
              <a:defRPr sz="1400">
                <a:solidFill>
                  <a:srgbClr val="18212F"/>
                </a:solidFill>
                <a:latin typeface="Calibri"/>
              </a:defRPr>
            </a:pPr>
            <a:r>
              <a:t>Concept framing stronger than field execution guidance.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417320"/>
            <a:ext cx="18288" cy="4983480"/>
          </a:xfrm>
          <a:prstGeom prst="rect">
            <a:avLst/>
          </a:prstGeom>
          <a:solidFill>
            <a:srgbClr val="D9D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08760"/>
            <a:ext cx="498348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b="1" sz="1800">
                <a:solidFill>
                  <a:srgbClr val="008080"/>
                </a:solidFill>
                <a:latin typeface="Calibri"/>
              </a:defRPr>
            </a:pPr>
            <a:r>
              <a:t>Training rebuild requirement</a:t>
            </a:r>
          </a:p>
          <a:p>
            <a:pPr lvl="1">
              <a:spcAft>
                <a:spcPts val="500"/>
              </a:spcAft>
              <a:defRPr sz="1400">
                <a:solidFill>
                  <a:srgbClr val="18212F"/>
                </a:solidFill>
                <a:latin typeface="Calibri"/>
              </a:defRPr>
            </a:pPr>
            <a:r>
              <a:t>Progressive module flow with repeated core rules.</a:t>
            </a:r>
          </a:p>
          <a:p>
            <a:pPr lvl="1">
              <a:spcAft>
                <a:spcPts val="500"/>
              </a:spcAft>
              <a:defRPr sz="1400">
                <a:solidFill>
                  <a:srgbClr val="18212F"/>
                </a:solidFill>
                <a:latin typeface="Calibri"/>
              </a:defRPr>
            </a:pPr>
            <a:r>
              <a:t>Executable workflows for first-claim readiness.</a:t>
            </a:r>
          </a:p>
          <a:p>
            <a:pPr lvl="1">
              <a:spcAft>
                <a:spcPts val="500"/>
              </a:spcAft>
              <a:defRPr sz="1400">
                <a:solidFill>
                  <a:srgbClr val="18212F"/>
                </a:solidFill>
                <a:latin typeface="Calibri"/>
              </a:defRPr>
            </a:pPr>
            <a:r>
              <a:t>Applied scenarios and failure-mode prevention.</a:t>
            </a:r>
          </a:p>
          <a:p>
            <a:pPr lvl="1">
              <a:spcAft>
                <a:spcPts val="500"/>
              </a:spcAft>
              <a:defRPr sz="1400">
                <a:solidFill>
                  <a:srgbClr val="18212F"/>
                </a:solidFill>
                <a:latin typeface="Calibri"/>
              </a:defRPr>
            </a:pPr>
            <a:r>
              <a:t>Consistent message architecture from full deck to executive deck.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804672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Calibri"/>
              </a:defRPr>
            </a:pPr>
            <a:r>
              <a:t>Core Training Thesis and Opening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6537960"/>
            <a:ext cx="37490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66070"/>
                </a:solidFill>
                <a:latin typeface="Calibri"/>
              </a:defRPr>
            </a:pPr>
            <a:r>
              <a:t>JL Policy Consulting | Adrabetadex ARM Training System |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9164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18212F"/>
                </a:solidFill>
                <a:latin typeface="Calibri"/>
              </a:defRPr>
            </a:pPr>
            <a:r>
              <a:t>Required ARM positioning</a:t>
            </a:r>
          </a:p>
          <a:p>
            <a:pPr lvl="1">
              <a:spcAft>
                <a:spcPts val="500"/>
              </a:spcAft>
              <a:defRPr sz="1600">
                <a:solidFill>
                  <a:srgbClr val="18212F"/>
                </a:solidFill>
                <a:latin typeface="Calibri"/>
              </a:defRPr>
            </a:pPr>
            <a:r>
              <a:t>Adrabetadex adoption depends on whether the provider can acquire, bill, get paid, and maintain acceptable net economics.</a:t>
            </a:r>
          </a:p>
          <a:p>
            <a:pPr lvl="1">
              <a:spcAft>
                <a:spcPts val="500"/>
              </a:spcAft>
              <a:defRPr sz="1600">
                <a:solidFill>
                  <a:srgbClr val="18212F"/>
                </a:solidFill>
                <a:latin typeface="Calibri"/>
              </a:defRPr>
            </a:pPr>
            <a:r>
              <a:t>Coverage is necessary, it is not sufficient.</a:t>
            </a:r>
          </a:p>
          <a:p>
            <a:pPr lvl="1">
              <a:spcAft>
                <a:spcPts val="500"/>
              </a:spcAft>
              <a:defRPr sz="1600">
                <a:solidFill>
                  <a:srgbClr val="18212F"/>
                </a:solidFill>
                <a:latin typeface="Calibri"/>
              </a:defRPr>
            </a:pPr>
            <a:r>
              <a:t>Every conversation starts with pathway identification before coding detail.</a:t>
            </a:r>
          </a:p>
          <a:p>
            <a:pPr lvl="1">
              <a:spcAft>
                <a:spcPts val="500"/>
              </a:spcAft>
              <a:defRPr sz="1600">
                <a:solidFill>
                  <a:srgbClr val="18212F"/>
                </a:solidFill>
                <a:latin typeface="Calibri"/>
              </a:defRPr>
            </a:pPr>
            <a:r>
              <a:t>Goal is real-world administration success, not theoretical coverage status.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804672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Calibri"/>
              </a:defRPr>
            </a:pPr>
            <a:r>
              <a:t>Module A: Claim Pathway and Coding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6537960"/>
            <a:ext cx="37490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66070"/>
                </a:solidFill>
                <a:latin typeface="Calibri"/>
              </a:defRPr>
            </a:pPr>
            <a:r>
              <a:t>JL Policy Consulting | Adrabetadex ARM Training System |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8212F"/>
                </a:solidFill>
                <a:latin typeface="Calibri"/>
              </a:defRPr>
            </a:pPr>
            <a:r>
              <a:t>A.1 Decision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22E1E"/>
                </a:solidFill>
                <a:latin typeface="Calibri"/>
              </a:defRPr>
            </a:pPr>
            <a:r>
              <a:t>Hard rule: There is no single billing pathway for Adrabetadex across settings.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82880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96112"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0E3F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0E3F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Required output</a:t>
                      </a:r>
                    </a:p>
                  </a:txBody>
                  <a:tcPr>
                    <a:solidFill>
                      <a:srgbClr val="0E3F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Failure risk if missed</a:t>
                      </a:r>
                    </a:p>
                  </a:txBody>
                  <a:tcPr>
                    <a:solidFill>
                      <a:srgbClr val="0E3F6C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Who is billing?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Institutional vs professional 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Wrong form and wrong field logic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Where is care delivered?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HOPD vs office context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Pathway mismatch at claim build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Which transaction applies?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837I vs 837P orientation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Clearinghouse rejection and rework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What coding stage applies?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Interim vs permanent HCPCS status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Payment failure or miscoding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804672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Calibri"/>
              </a:defRPr>
            </a:pPr>
            <a:r>
              <a:t>Module A: Hard Rule and Interim Coding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6537960"/>
            <a:ext cx="37490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66070"/>
                </a:solidFill>
                <a:latin typeface="Calibri"/>
              </a:defRPr>
            </a:pPr>
            <a:r>
              <a:t>JL Policy Consulting | Adrabetadex ARM Training System |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8212F"/>
                </a:solidFill>
                <a:latin typeface="Calibri"/>
              </a:defRPr>
            </a:pPr>
            <a:r>
              <a:t>A.3 Interim Coding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22E1E"/>
                </a:solidFill>
                <a:latin typeface="Calibri"/>
              </a:defRPr>
            </a:pPr>
            <a:r>
              <a:t>Critical instruction: Candidate codes are payer-dependent options, not defaults.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82880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1493520"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Setting</a:t>
                      </a:r>
                    </a:p>
                  </a:txBody>
                  <a:tcPr>
                    <a:solidFill>
                      <a:srgbClr val="0E3F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Candidate code</a:t>
                      </a:r>
                    </a:p>
                  </a:txBody>
                  <a:tcPr>
                    <a:solidFill>
                      <a:srgbClr val="0E3F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must be validated</a:t>
                      </a:r>
                    </a:p>
                  </a:txBody>
                  <a:tcPr>
                    <a:solidFill>
                      <a:srgbClr val="0E3F6C"/>
                    </a:solidFill>
                  </a:tcPr>
                </a:tc>
              </a:tr>
              <a:tr h="1493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HOPD / institutional outpatient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C9399 (candidate only when supported)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Revenue code, NDC, units, charge, invoice, pathway policy</a:t>
                      </a:r>
                    </a:p>
                  </a:txBody>
                  <a:tcPr/>
                </a:tc>
              </a:tr>
              <a:tr h="1493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Professional claim pathway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J3490 / J3590 (candidate only when supported)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Narrative, diagnosis linkage, units, payer-specific misc-code requirements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804672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Calibri"/>
              </a:defRPr>
            </a:pPr>
            <a:r>
              <a:t>Module A: First-Claim Build Stop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6537960"/>
            <a:ext cx="37490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66070"/>
                </a:solidFill>
                <a:latin typeface="Calibri"/>
              </a:defRPr>
            </a:pPr>
            <a:r>
              <a:t>JL Policy Consulting | Adrabetadex ARM Training System |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0020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18212F"/>
                </a:solidFill>
                <a:latin typeface="Calibri"/>
              </a:defRPr>
            </a:pPr>
            <a:r>
              <a:t>Before first dose, confirm all five controls</a:t>
            </a:r>
          </a:p>
          <a:p>
            <a:pPr lvl="1">
              <a:spcAft>
                <a:spcPts val="500"/>
              </a:spcAft>
              <a:defRPr sz="1500">
                <a:solidFill>
                  <a:srgbClr val="18212F"/>
                </a:solidFill>
                <a:latin typeface="Calibri"/>
              </a:defRPr>
            </a:pPr>
            <a:r>
              <a:t>Claim pathway confirmed: UB-04/CMS-1450/837I versus CMS-1500/837P.</a:t>
            </a:r>
          </a:p>
          <a:p>
            <a:pPr lvl="1">
              <a:spcAft>
                <a:spcPts val="500"/>
              </a:spcAft>
              <a:defRPr sz="1500">
                <a:solidFill>
                  <a:srgbClr val="18212F"/>
                </a:solidFill>
                <a:latin typeface="Calibri"/>
              </a:defRPr>
            </a:pPr>
            <a:r>
              <a:t>NDC and units validated to payer-specific format and UOM rules.</a:t>
            </a:r>
          </a:p>
          <a:p>
            <a:pPr lvl="1">
              <a:spcAft>
                <a:spcPts val="500"/>
              </a:spcAft>
              <a:defRPr sz="1500">
                <a:solidFill>
                  <a:srgbClr val="18212F"/>
                </a:solidFill>
                <a:latin typeface="Calibri"/>
              </a:defRPr>
            </a:pPr>
            <a:r>
              <a:t>Interim HCPCS candidate validated with coding/compliance/revenue-cycle owner.</a:t>
            </a:r>
          </a:p>
          <a:p>
            <a:pPr lvl="1">
              <a:spcAft>
                <a:spcPts val="500"/>
              </a:spcAft>
              <a:defRPr sz="1500">
                <a:solidFill>
                  <a:srgbClr val="18212F"/>
                </a:solidFill>
                <a:latin typeface="Calibri"/>
              </a:defRPr>
            </a:pPr>
            <a:r>
              <a:t>Prior authorization approved and documented.</a:t>
            </a:r>
          </a:p>
          <a:p>
            <a:pPr lvl="1">
              <a:spcAft>
                <a:spcPts val="500"/>
              </a:spcAft>
              <a:defRPr sz="1500">
                <a:solidFill>
                  <a:srgbClr val="18212F"/>
                </a:solidFill>
                <a:latin typeface="Calibri"/>
              </a:defRPr>
            </a:pPr>
            <a:r>
              <a:t>Escalation owner assigned for unresolved edits.</a:t>
            </a:r>
          </a:p>
          <a:p>
            <a:pPr lvl="1">
              <a:spcAft>
                <a:spcPts val="500"/>
              </a:spcAft>
              <a:defRPr sz="1500">
                <a:solidFill>
                  <a:srgbClr val="18212F"/>
                </a:solidFill>
                <a:latin typeface="Calibri"/>
              </a:defRPr>
            </a:pPr>
            <a:r>
              <a:t>If any item is missing: do not proceed with administration.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804672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Calibri"/>
              </a:defRPr>
            </a:pPr>
            <a:r>
              <a:t>Module B: Payer and Operational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6537960"/>
            <a:ext cx="37490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66070"/>
                </a:solidFill>
                <a:latin typeface="Calibri"/>
              </a:defRPr>
            </a:pPr>
            <a:r>
              <a:t>JL Policy Consulting | Adrabetadex ARM Training System |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8212F"/>
                </a:solidFill>
                <a:latin typeface="Calibri"/>
              </a:defRPr>
            </a:pPr>
            <a:r>
              <a:t>B.1 Payer Reality Framework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828800"/>
          <a:ext cx="109728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969264"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Payer segment</a:t>
                      </a:r>
                    </a:p>
                  </a:txBody>
                  <a:tcPr>
                    <a:solidFill>
                      <a:srgbClr val="0E3F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Control mechanism</a:t>
                      </a:r>
                    </a:p>
                  </a:txBody>
                  <a:tcPr>
                    <a:solidFill>
                      <a:srgbClr val="0E3F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Practical impact</a:t>
                      </a:r>
                    </a:p>
                  </a:txBody>
                  <a:tcPr>
                    <a:solidFill>
                      <a:srgbClr val="0E3F6C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Medicare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Coding and payment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Predictable framework, strict execution and documentation discipline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Commercial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Site-of-care and sourcing controls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High variability, channel restrictions can override assumed pathway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Medicaid / MCO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NDC, UOM, and 340B handling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High rejection risk without exact formatting and policy alignment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Dual eligible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Coordination of benefits controls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Timing and ownership risk across primary/secondary processes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804672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Calibri"/>
              </a:defRPr>
            </a:pPr>
            <a:r>
              <a:t>Module B: High-Risk Failure Points and ARM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6537960"/>
            <a:ext cx="37490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66070"/>
                </a:solidFill>
                <a:latin typeface="Calibri"/>
              </a:defRPr>
            </a:pPr>
            <a:r>
              <a:t>JL Policy Consulting | Adrabetadex ARM Training System |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8212F"/>
                </a:solidFill>
                <a:latin typeface="Calibri"/>
              </a:defRPr>
            </a:pPr>
            <a:r>
              <a:t>B.2 Operational Failure Map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828800"/>
          <a:ext cx="109728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969264"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Failure mode</a:t>
                      </a:r>
                    </a:p>
                  </a:txBody>
                  <a:tcPr>
                    <a:solidFill>
                      <a:srgbClr val="0E3F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Root cause</a:t>
                      </a:r>
                    </a:p>
                  </a:txBody>
                  <a:tcPr>
                    <a:solidFill>
                      <a:srgbClr val="0E3F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ARM execution action</a:t>
                      </a:r>
                    </a:p>
                  </a:txBody>
                  <a:tcPr>
                    <a:solidFill>
                      <a:srgbClr val="0E3F6C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NOC denial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Missing narrative, invoice, or support detail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Pre-build support packet before first claim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Site-of-care denial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Policy mismatch with planned administration setting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Validate policy before PA submission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NDC rejection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Incorrect UOM or payer-specific NDC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Confirm payer format and test sample claim payload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Payment delay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Incomplete documentation ownership at submission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Assign accountable owner pre-dose and track checklist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804672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Calibri"/>
              </a:defRPr>
            </a:pPr>
            <a:r>
              <a:t>Module B: Operational Readiness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6537960"/>
            <a:ext cx="37490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66070"/>
                </a:solidFill>
                <a:latin typeface="Calibri"/>
              </a:defRPr>
            </a:pPr>
            <a:r>
              <a:t>JL Policy Consulting | Adrabetadex ARM Training System |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9164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18212F"/>
                </a:solidFill>
                <a:latin typeface="Calibri"/>
              </a:defRPr>
            </a:pPr>
            <a:r>
              <a:t>No site should administer until four prerequisites are true</a:t>
            </a:r>
          </a:p>
          <a:p>
            <a:pPr lvl="1">
              <a:spcAft>
                <a:spcPts val="500"/>
              </a:spcAft>
              <a:defRPr sz="1600">
                <a:solidFill>
                  <a:srgbClr val="18212F"/>
                </a:solidFill>
                <a:latin typeface="Calibri"/>
              </a:defRPr>
            </a:pPr>
            <a:r>
              <a:t>Prior authorization approved.</a:t>
            </a:r>
          </a:p>
          <a:p>
            <a:pPr lvl="1">
              <a:spcAft>
                <a:spcPts val="500"/>
              </a:spcAft>
              <a:defRPr sz="1600">
                <a:solidFill>
                  <a:srgbClr val="18212F"/>
                </a:solidFill>
                <a:latin typeface="Calibri"/>
              </a:defRPr>
            </a:pPr>
            <a:r>
              <a:t>Claim build validated to the correct pathway.</a:t>
            </a:r>
          </a:p>
          <a:p>
            <a:pPr lvl="1">
              <a:spcAft>
                <a:spcPts val="500"/>
              </a:spcAft>
              <a:defRPr sz="1600">
                <a:solidFill>
                  <a:srgbClr val="18212F"/>
                </a:solidFill>
                <a:latin typeface="Calibri"/>
              </a:defRPr>
            </a:pPr>
            <a:r>
              <a:t>Documentation package complete (coding, NDC, units, support artifacts).</a:t>
            </a:r>
          </a:p>
          <a:p>
            <a:pPr lvl="1">
              <a:spcAft>
                <a:spcPts val="500"/>
              </a:spcAft>
              <a:defRPr sz="1600">
                <a:solidFill>
                  <a:srgbClr val="18212F"/>
                </a:solidFill>
                <a:latin typeface="Calibri"/>
              </a:defRPr>
            </a:pPr>
            <a:r>
              <a:t>Escalation path assigned for first-cycle denials or edits.</a:t>
            </a:r>
          </a:p>
          <a:p>
            <a:pPr lvl="1">
              <a:spcAft>
                <a:spcPts val="500"/>
              </a:spcAft>
              <a:defRPr sz="1600">
                <a:solidFill>
                  <a:srgbClr val="18212F"/>
                </a:solidFill>
                <a:latin typeface="Calibri"/>
              </a:defRPr>
            </a:pPr>
            <a:r>
              <a:t>This standard is a go/no-go control, not a recommendation.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804672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Calibri"/>
              </a:defRPr>
            </a:pPr>
            <a:r>
              <a:t>Module C: Provider Economics and Field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6537960"/>
            <a:ext cx="37490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66070"/>
                </a:solidFill>
                <a:latin typeface="Calibri"/>
              </a:defRPr>
            </a:pPr>
            <a:r>
              <a:t>JL Policy Consulting | Adrabetadex ARM Training System |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8212F"/>
                </a:solidFill>
                <a:latin typeface="Calibri"/>
              </a:defRPr>
            </a:pPr>
            <a:r>
              <a:t>C.2 Core Economics Drivers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828800"/>
          <a:ext cx="109728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807720"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Driver</a:t>
                      </a:r>
                    </a:p>
                  </a:txBody>
                  <a:tcPr>
                    <a:solidFill>
                      <a:srgbClr val="0E3F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it matters for adoption</a:t>
                      </a:r>
                    </a:p>
                  </a:txBody>
                  <a:tcPr>
                    <a:solidFill>
                      <a:srgbClr val="0E3F6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Acquisition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Determines initial inventory exposure and carry risk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Reimbursement level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Defines gross recovery potential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Payment 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Drives cash-flow pressure even when coverage exists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Denials and rework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Converts thin spreads into negative operating performance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340B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Primary modeled margin driver in concentrated COE settings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804672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Calibri"/>
              </a:defRPr>
            </a:pPr>
            <a:r>
              <a:t>Module C: 340B Positioning 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6537960"/>
            <a:ext cx="37490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66070"/>
                </a:solidFill>
                <a:latin typeface="Calibri"/>
              </a:defRPr>
            </a:pPr>
            <a:r>
              <a:t>JL Policy Consulting | Adrabetadex ARM Training System |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39496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b="1" sz="1800">
                <a:solidFill>
                  <a:srgbClr val="0E3F6C"/>
                </a:solidFill>
                <a:latin typeface="Calibri"/>
              </a:defRPr>
            </a:pPr>
            <a:r>
              <a:t>What must be corrected in field language</a:t>
            </a:r>
          </a:p>
          <a:p>
            <a:pPr lvl="1">
              <a:spcAft>
                <a:spcPts val="500"/>
              </a:spcAft>
              <a:defRPr sz="1400">
                <a:solidFill>
                  <a:srgbClr val="18212F"/>
                </a:solidFill>
                <a:latin typeface="Calibri"/>
              </a:defRPr>
            </a:pPr>
            <a:r>
              <a:t>340B is not a marginal benefit in this model.</a:t>
            </a:r>
          </a:p>
          <a:p>
            <a:pPr lvl="1">
              <a:spcAft>
                <a:spcPts val="500"/>
              </a:spcAft>
              <a:defRPr sz="1400">
                <a:solidFill>
                  <a:srgbClr val="18212F"/>
                </a:solidFill>
                <a:latin typeface="Calibri"/>
              </a:defRPr>
            </a:pPr>
            <a:r>
              <a:t>340B status is a primary adoption economics lever.</a:t>
            </a:r>
          </a:p>
          <a:p>
            <a:pPr lvl="1">
              <a:spcAft>
                <a:spcPts val="500"/>
              </a:spcAft>
              <a:defRPr sz="1400">
                <a:solidFill>
                  <a:srgbClr val="18212F"/>
                </a:solidFill>
                <a:latin typeface="Calibri"/>
              </a:defRPr>
            </a:pPr>
            <a:r>
              <a:t>Modeled differential is material and should be framed as such.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417320"/>
            <a:ext cx="18288" cy="4983480"/>
          </a:xfrm>
          <a:prstGeom prst="rect">
            <a:avLst/>
          </a:prstGeom>
          <a:solidFill>
            <a:srgbClr val="D9D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08760"/>
            <a:ext cx="498348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b="1" sz="1800">
                <a:solidFill>
                  <a:srgbClr val="008080"/>
                </a:solidFill>
                <a:latin typeface="Calibri"/>
              </a:defRPr>
            </a:pPr>
            <a:r>
              <a:t>How to communicate safely</a:t>
            </a:r>
          </a:p>
          <a:p>
            <a:pPr lvl="1">
              <a:spcAft>
                <a:spcPts val="500"/>
              </a:spcAft>
              <a:defRPr sz="1400">
                <a:solidFill>
                  <a:srgbClr val="18212F"/>
                </a:solidFill>
                <a:latin typeface="Calibri"/>
              </a:defRPr>
            </a:pPr>
            <a:r>
              <a:t>Describe 340B as scenario-dependent, not universal.</a:t>
            </a:r>
          </a:p>
          <a:p>
            <a:pPr lvl="1">
              <a:spcAft>
                <a:spcPts val="500"/>
              </a:spcAft>
              <a:defRPr sz="1400">
                <a:solidFill>
                  <a:srgbClr val="18212F"/>
                </a:solidFill>
                <a:latin typeface="Calibri"/>
              </a:defRPr>
            </a:pPr>
            <a:r>
              <a:t>Tie margin discussions to validated pathway and payer controls.</a:t>
            </a:r>
          </a:p>
          <a:p>
            <a:pPr lvl="1">
              <a:spcAft>
                <a:spcPts val="500"/>
              </a:spcAft>
              <a:defRPr sz="1400">
                <a:solidFill>
                  <a:srgbClr val="18212F"/>
                </a:solidFill>
                <a:latin typeface="Calibri"/>
              </a:defRPr>
            </a:pPr>
            <a:r>
              <a:t>Pair economics framing with compliance and documentation controls.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804672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Calibri"/>
              </a:defRPr>
            </a:pPr>
            <a:r>
              <a:t>Module C: Field Conversation Flow (Executable)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6537960"/>
            <a:ext cx="37490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66070"/>
                </a:solidFill>
                <a:latin typeface="Calibri"/>
              </a:defRPr>
            </a:pPr>
            <a:r>
              <a:t>JL Policy Consulting | Adrabetadex ARM Training System | April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208483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9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250">
                <a:solidFill>
                  <a:srgbClr val="0E3F6C"/>
                </a:solidFill>
                <a:latin typeface="Calibri"/>
              </a:defRPr>
            </a:pPr>
            <a:r>
              <a:t>1. Pathway</a:t>
            </a:r>
          </a:p>
          <a:p>
            <a:pPr>
              <a:defRPr sz="1100">
                <a:solidFill>
                  <a:srgbClr val="18212F"/>
                </a:solidFill>
                <a:latin typeface="Calibri"/>
              </a:defRPr>
            </a:pPr>
            <a:r>
              <a:t>Start with institutional vs professional claim pathway.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62072" y="2011680"/>
            <a:ext cx="208483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9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250">
                <a:solidFill>
                  <a:srgbClr val="0E3F6C"/>
                </a:solidFill>
                <a:latin typeface="Calibri"/>
              </a:defRPr>
            </a:pPr>
            <a:r>
              <a:t>2. Payer</a:t>
            </a:r>
          </a:p>
          <a:p>
            <a:pPr>
              <a:defRPr sz="1100">
                <a:solidFill>
                  <a:srgbClr val="18212F"/>
                </a:solidFill>
                <a:latin typeface="Calibri"/>
              </a:defRPr>
            </a:pPr>
            <a:r>
              <a:t>Confirm policy controls, sourcing, and PA requirements.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2011680"/>
            <a:ext cx="208483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9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250">
                <a:solidFill>
                  <a:srgbClr val="0E3F6C"/>
                </a:solidFill>
                <a:latin typeface="Calibri"/>
              </a:defRPr>
            </a:pPr>
            <a:r>
              <a:t>3. Build</a:t>
            </a:r>
          </a:p>
          <a:p>
            <a:pPr>
              <a:defRPr sz="1100">
                <a:solidFill>
                  <a:srgbClr val="18212F"/>
                </a:solidFill>
                <a:latin typeface="Calibri"/>
              </a:defRPr>
            </a:pPr>
            <a:r>
              <a:t>Validate claim fields and candidate coding package.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06056" y="2011680"/>
            <a:ext cx="208483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9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250">
                <a:solidFill>
                  <a:srgbClr val="0E3F6C"/>
                </a:solidFill>
                <a:latin typeface="Calibri"/>
              </a:defRPr>
            </a:pPr>
            <a:r>
              <a:t>4. Economics</a:t>
            </a:r>
          </a:p>
          <a:p>
            <a:pPr>
              <a:defRPr sz="1100">
                <a:solidFill>
                  <a:srgbClr val="18212F"/>
                </a:solidFill>
                <a:latin typeface="Calibri"/>
              </a:defRPr>
            </a:pPr>
            <a:r>
              <a:t>Quantify provider risk and net recovery profile.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28048" y="2011680"/>
            <a:ext cx="208483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9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b="1" sz="1250">
                <a:solidFill>
                  <a:srgbClr val="0E3F6C"/>
                </a:solidFill>
                <a:latin typeface="Calibri"/>
              </a:defRPr>
            </a:pPr>
            <a:r>
              <a:t>5. Actions</a:t>
            </a:r>
          </a:p>
          <a:p>
            <a:pPr>
              <a:defRPr sz="1100">
                <a:solidFill>
                  <a:srgbClr val="18212F"/>
                </a:solidFill>
                <a:latin typeface="Calibri"/>
              </a:defRPr>
            </a:pPr>
            <a:r>
              <a:t>Assign owners, timeline, and escalation checkpoints.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804672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Calibri"/>
              </a:defRPr>
            </a:pPr>
            <a:r>
              <a:t>Billing References: Repositioned for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6537960"/>
            <a:ext cx="37490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66070"/>
                </a:solidFill>
                <a:latin typeface="Calibri"/>
              </a:defRPr>
            </a:pPr>
            <a:r>
              <a:t>JL Policy Consulting | Adrabetadex ARM Training System |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39496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b="1" sz="1800">
                <a:solidFill>
                  <a:srgbClr val="0E3F6C"/>
                </a:solidFill>
                <a:latin typeface="Calibri"/>
              </a:defRPr>
            </a:pPr>
            <a:r>
              <a:t>Correct use of references</a:t>
            </a:r>
          </a:p>
          <a:p>
            <a:pPr lvl="1">
              <a:spcAft>
                <a:spcPts val="500"/>
              </a:spcAft>
              <a:defRPr sz="1400">
                <a:solidFill>
                  <a:srgbClr val="18212F"/>
                </a:solidFill>
                <a:latin typeface="Calibri"/>
              </a:defRPr>
            </a:pPr>
            <a:r>
              <a:t>Validation tool for escalation and coding-team alignment.</a:t>
            </a:r>
          </a:p>
          <a:p>
            <a:pPr lvl="1">
              <a:spcAft>
                <a:spcPts val="500"/>
              </a:spcAft>
              <a:defRPr sz="1400">
                <a:solidFill>
                  <a:srgbClr val="18212F"/>
                </a:solidFill>
                <a:latin typeface="Calibri"/>
              </a:defRPr>
            </a:pPr>
            <a:r>
              <a:t>Reference anchor for side-by-side field orientation.</a:t>
            </a:r>
          </a:p>
          <a:p>
            <a:pPr lvl="1">
              <a:spcAft>
                <a:spcPts val="500"/>
              </a:spcAft>
              <a:defRPr sz="1400">
                <a:solidFill>
                  <a:srgbClr val="18212F"/>
                </a:solidFill>
                <a:latin typeface="Calibri"/>
              </a:defRPr>
            </a:pPr>
            <a:r>
              <a:t>Support asset for pathway-specific discussion with provider teams.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417320"/>
            <a:ext cx="18288" cy="4983480"/>
          </a:xfrm>
          <a:prstGeom prst="rect">
            <a:avLst/>
          </a:prstGeom>
          <a:solidFill>
            <a:srgbClr val="D9D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08760"/>
            <a:ext cx="498348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b="1" sz="1800">
                <a:solidFill>
                  <a:srgbClr val="008080"/>
                </a:solidFill>
                <a:latin typeface="Calibri"/>
              </a:defRPr>
            </a:pPr>
            <a:r>
              <a:t>Do not use as</a:t>
            </a:r>
          </a:p>
          <a:p>
            <a:pPr lvl="1">
              <a:spcAft>
                <a:spcPts val="500"/>
              </a:spcAft>
              <a:defRPr sz="1400">
                <a:solidFill>
                  <a:srgbClr val="18212F"/>
                </a:solidFill>
                <a:latin typeface="Calibri"/>
              </a:defRPr>
            </a:pPr>
            <a:r>
              <a:t>Primary teaching tool for novice ARM execution.</a:t>
            </a:r>
          </a:p>
          <a:p>
            <a:pPr lvl="1">
              <a:spcAft>
                <a:spcPts val="500"/>
              </a:spcAft>
              <a:defRPr sz="1400">
                <a:solidFill>
                  <a:srgbClr val="18212F"/>
                </a:solidFill>
                <a:latin typeface="Calibri"/>
              </a:defRPr>
            </a:pPr>
            <a:r>
              <a:t>Standalone instruction without decision workflow context.</a:t>
            </a:r>
          </a:p>
          <a:p>
            <a:pPr lvl="1">
              <a:spcAft>
                <a:spcPts val="500"/>
              </a:spcAft>
              <a:defRPr sz="1400">
                <a:solidFill>
                  <a:srgbClr val="18212F"/>
                </a:solidFill>
                <a:latin typeface="Calibri"/>
              </a:defRPr>
            </a:pPr>
            <a:r>
              <a:t>Final payer-specific billing directive.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804672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Calibri"/>
              </a:defRPr>
            </a:pPr>
            <a:r>
              <a:t>Blind Spot Check: Critical Risk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6537960"/>
            <a:ext cx="37490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66070"/>
                </a:solidFill>
                <a:latin typeface="Calibri"/>
              </a:defRPr>
            </a:pPr>
            <a:r>
              <a:t>JL Policy Consulting | Adrabetadex ARM Training System |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8212F"/>
                </a:solidFill>
                <a:latin typeface="Calibri"/>
              </a:defRPr>
            </a:pPr>
            <a:r>
              <a:t>Critical Risks and Countermeasures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828800"/>
          <a:ext cx="109728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1211580"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Blind spot</a:t>
                      </a:r>
                    </a:p>
                  </a:txBody>
                  <a:tcPr>
                    <a:solidFill>
                      <a:srgbClr val="0E3F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0E3F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Mitigation in training system</a:t>
                      </a:r>
                    </a:p>
                  </a:txBody>
                  <a:tcPr>
                    <a:solidFill>
                      <a:srgbClr val="0E3F6C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Over-reliance on 340B concentration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Expansion to non-340B settings can break assumed economics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Force scenario segmentation and payer/site validation before rollout</a:t>
                      </a:r>
                    </a:p>
                  </a:txBody>
                  <a:tcPr/>
                </a:tc>
              </a:tr>
              <a:tr h="12115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Interim coding variability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Field over-generalizes one pathway across accounts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Reinforce candidate-only language and account-level validation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Operational burden underweighted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Labor and denial friction can erase margins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212F"/>
                          </a:solidFill>
                          <a:latin typeface="Calibri"/>
                        </a:defRPr>
                      </a:pPr>
                      <a:r>
                        <a:t>Require operational readiness stop-rule pre-administration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804672"/>
          </a:xfrm>
          <a:prstGeom prst="rect">
            <a:avLst/>
          </a:prstGeom>
          <a:solidFill>
            <a:srgbClr val="0E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Calibri"/>
              </a:defRPr>
            </a:pPr>
            <a:r>
              <a:t>Client-Ready Final Positioning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6537960"/>
            <a:ext cx="37490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66070"/>
                </a:solidFill>
                <a:latin typeface="Calibri"/>
              </a:defRPr>
            </a:pPr>
            <a:r>
              <a:t>JL Policy Consulting | Adrabetadex ARM Training System |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2880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b="1" sz="2200">
                <a:solidFill>
                  <a:srgbClr val="18212F"/>
                </a:solidFill>
                <a:latin typeface="Calibri"/>
              </a:defRPr>
            </a:pPr>
            <a:r>
              <a:t>Training system outcome</a:t>
            </a:r>
          </a:p>
          <a:p>
            <a:pPr lvl="1">
              <a:spcAft>
                <a:spcPts val="500"/>
              </a:spcAft>
              <a:defRPr sz="1600">
                <a:solidFill>
                  <a:srgbClr val="18212F"/>
                </a:solidFill>
                <a:latin typeface="Calibri"/>
              </a:defRPr>
            </a:pPr>
            <a:r>
              <a:t>This package does not teach billing mechanics in isolation.</a:t>
            </a:r>
          </a:p>
          <a:p>
            <a:pPr lvl="1">
              <a:spcAft>
                <a:spcPts val="500"/>
              </a:spcAft>
              <a:defRPr sz="1600">
                <a:solidFill>
                  <a:srgbClr val="18212F"/>
                </a:solidFill>
                <a:latin typeface="Calibri"/>
              </a:defRPr>
            </a:pPr>
            <a:r>
              <a:t>It trains field teams to ensure Adrabetadex can be administered, billed, and paid in real-world conditions.</a:t>
            </a:r>
          </a:p>
          <a:p>
            <a:pPr lvl="1">
              <a:spcAft>
                <a:spcPts val="500"/>
              </a:spcAft>
              <a:defRPr sz="1600">
                <a:solidFill>
                  <a:srgbClr val="18212F"/>
                </a:solidFill>
                <a:latin typeface="Calibri"/>
              </a:defRPr>
            </a:pPr>
            <a:r>
              <a:t>It converts materials into decision-based execution with reinforcement and failure prevention.</a:t>
            </a:r>
          </a:p>
          <a:p>
            <a:pPr lvl="1">
              <a:spcAft>
                <a:spcPts val="500"/>
              </a:spcAft>
              <a:defRPr sz="1600">
                <a:solidFill>
                  <a:srgbClr val="18212F"/>
                </a:solidFill>
                <a:latin typeface="Calibri"/>
              </a:defRPr>
            </a:pPr>
            <a:r>
              <a:t>This is the standard required for client delivery and ARM effectiveness.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