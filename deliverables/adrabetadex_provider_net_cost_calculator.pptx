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6357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osephstewart/Documents/JLPolicyConsulting/tmp/adrabetadex_deck/assets/navisync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8" y="256032"/>
            <a:ext cx="3232404" cy="8961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4752" y="117043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</a:t>
            </a:r>
            <a:endParaRPr lang="en-US" sz="980" dirty="0"/>
          </a:p>
        </p:txBody>
      </p:sp>
      <p:sp>
        <p:nvSpPr>
          <p:cNvPr id="4" name="Text 1"/>
          <p:cNvSpPr/>
          <p:nvPr/>
        </p:nvSpPr>
        <p:spPr>
          <a:xfrm>
            <a:off x="2450592" y="146304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50" b="1" dirty="0">
                <a:solidFill>
                  <a:srgbClr val="6E9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Adrabetadex Provider Net Cost Calculator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2734056" y="201625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6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launch uptake depends on provider economics, not clinical value alone</a:t>
            </a:r>
            <a:endParaRPr lang="en-US" sz="1560" dirty="0"/>
          </a:p>
        </p:txBody>
      </p:sp>
      <p:sp>
        <p:nvSpPr>
          <p:cNvPr id="6" name="Text 3"/>
          <p:cNvSpPr/>
          <p:nvPr/>
        </p:nvSpPr>
        <p:spPr>
          <a:xfrm>
            <a:off x="1444752" y="27432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the Beren Therapeutics launch team</a:t>
            </a:r>
            <a:endParaRPr lang="en-US" sz="1080" dirty="0"/>
          </a:p>
        </p:txBody>
      </p:sp>
      <p:sp>
        <p:nvSpPr>
          <p:cNvPr id="7" name="Text 4"/>
          <p:cNvSpPr/>
          <p:nvPr/>
        </p:nvSpPr>
        <p:spPr>
          <a:xfrm>
            <a:off x="1444752" y="299923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internal discussion deck based on the concept brief</a:t>
            </a:r>
            <a:endParaRPr lang="en-US" sz="980" dirty="0"/>
          </a:p>
        </p:txBody>
      </p:sp>
      <p:sp>
        <p:nvSpPr>
          <p:cNvPr id="8" name="Shape 5"/>
          <p:cNvSpPr/>
          <p:nvPr/>
        </p:nvSpPr>
        <p:spPr>
          <a:xfrm>
            <a:off x="1444752" y="3895344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E9F0DF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09344" y="4005072"/>
            <a:ext cx="1682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Payer + PBM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657600" y="3895344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22192" y="4005072"/>
            <a:ext cx="1682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pharmacy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870448" y="3895344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E9F0DF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0" y="4005072"/>
            <a:ext cx="1682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/ COE / office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83296" y="3895344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47888" y="4005072"/>
            <a:ext cx="1682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net margin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456432" y="4251960"/>
            <a:ext cx="201168" cy="0"/>
          </a:xfrm>
          <a:prstGeom prst="line">
            <a:avLst/>
          </a:prstGeom>
          <a:noFill/>
          <a:ln w="12700">
            <a:solidFill>
              <a:srgbClr val="6E9F3A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669280" y="4251960"/>
            <a:ext cx="201168" cy="0"/>
          </a:xfrm>
          <a:prstGeom prst="line">
            <a:avLst/>
          </a:prstGeom>
          <a:noFill/>
          <a:ln w="12700">
            <a:solidFill>
              <a:srgbClr val="6E9F3A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882128" y="4251960"/>
            <a:ext cx="201168" cy="0"/>
          </a:xfrm>
          <a:prstGeom prst="line">
            <a:avLst/>
          </a:prstGeom>
          <a:noFill/>
          <a:ln w="12700">
            <a:solidFill>
              <a:srgbClr val="6E9F3A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3383280" y="4709160"/>
            <a:ext cx="1901952" cy="658368"/>
          </a:xfrm>
          <a:prstGeom prst="roundRect">
            <a:avLst>
              <a:gd name="adj" fmla="val 11111"/>
            </a:avLst>
          </a:prstGeom>
          <a:solidFill>
            <a:srgbClr val="F3F6EC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47872" y="481888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340B / Medicaid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path</a:t>
            </a:r>
            <a:endParaRPr lang="en-US" sz="1140" dirty="0"/>
          </a:p>
        </p:txBody>
      </p:sp>
      <p:sp>
        <p:nvSpPr>
          <p:cNvPr id="21" name="Shape 18"/>
          <p:cNvSpPr/>
          <p:nvPr/>
        </p:nvSpPr>
        <p:spPr>
          <a:xfrm>
            <a:off x="5532120" y="4709160"/>
            <a:ext cx="1901952" cy="658368"/>
          </a:xfrm>
          <a:prstGeom prst="roundRect">
            <a:avLst>
              <a:gd name="adj" fmla="val 11111"/>
            </a:avLst>
          </a:prstGeom>
          <a:solidFill>
            <a:srgbClr val="F3F6EC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96712" y="481888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+ pass-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status</a:t>
            </a:r>
            <a:endParaRPr lang="en-US" sz="1140" dirty="0"/>
          </a:p>
        </p:txBody>
      </p:sp>
      <p:sp>
        <p:nvSpPr>
          <p:cNvPr id="23" name="Shape 20"/>
          <p:cNvSpPr/>
          <p:nvPr/>
        </p:nvSpPr>
        <p:spPr>
          <a:xfrm>
            <a:off x="7680960" y="4709160"/>
            <a:ext cx="1901952" cy="658368"/>
          </a:xfrm>
          <a:prstGeom prst="roundRect">
            <a:avLst>
              <a:gd name="adj" fmla="val 11111"/>
            </a:avLst>
          </a:prstGeom>
          <a:solidFill>
            <a:srgbClr val="F3F6EC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45552" y="481888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+</a:t>
            </a:r>
            <a:endParaRPr lang="en-US" sz="1140" dirty="0"/>
          </a:p>
          <a:p>
            <a:pPr marL="0" indent="0" algn="ctr">
              <a:buNone/>
            </a:pPr>
            <a:r>
              <a:rPr lang="en-US" sz="114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contracting levers</a:t>
            </a:r>
            <a:endParaRPr lang="en-US" sz="1140" dirty="0"/>
          </a:p>
        </p:txBody>
      </p:sp>
      <p:sp>
        <p:nvSpPr>
          <p:cNvPr id="25" name="Text 22"/>
          <p:cNvSpPr/>
          <p:nvPr/>
        </p:nvSpPr>
        <p:spPr>
          <a:xfrm>
            <a:off x="1444752" y="563270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economics sit between clinical interest and operational adoption.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0" y="6565392"/>
            <a:ext cx="2560320" cy="292608"/>
          </a:xfrm>
          <a:prstGeom prst="roundRect">
            <a:avLst>
              <a:gd name="adj" fmla="val 37500"/>
            </a:avLst>
          </a:prstGeom>
          <a:solidFill>
            <a:srgbClr val="A8CF45"/>
          </a:solidFill>
          <a:ln w="12700">
            <a:solidFill>
              <a:srgbClr val="A8CF45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743200" y="6565392"/>
            <a:ext cx="4206240" cy="292608"/>
          </a:xfrm>
          <a:prstGeom prst="roundRect">
            <a:avLst>
              <a:gd name="adj" fmla="val 37500"/>
            </a:avLst>
          </a:prstGeom>
          <a:solidFill>
            <a:srgbClr val="2F5A1E"/>
          </a:solidFill>
          <a:ln w="12700">
            <a:solidFill>
              <a:srgbClr val="2F5A1E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Adrabetadex Provider Net Cost Calculator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384048"/>
            <a:ext cx="11185855" cy="0"/>
          </a:xfrm>
          <a:prstGeom prst="line">
            <a:avLst/>
          </a:prstGeom>
          <a:noFill/>
          <a:ln w="12700">
            <a:solidFill>
              <a:srgbClr val="D8DE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597335" y="645566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2240280" cy="292608"/>
          </a:xfrm>
          <a:prstGeom prst="roundRect">
            <a:avLst>
              <a:gd name="adj" fmla="val 37500"/>
            </a:avLst>
          </a:prstGeom>
          <a:solidFill>
            <a:srgbClr val="A8CF45"/>
          </a:solidFill>
          <a:ln w="12700">
            <a:solidFill>
              <a:srgbClr val="A8CF4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23160" y="6565392"/>
            <a:ext cx="3931920" cy="292608"/>
          </a:xfrm>
          <a:prstGeom prst="roundRect">
            <a:avLst>
              <a:gd name="adj" fmla="val 37500"/>
            </a:avLst>
          </a:prstGeom>
          <a:solidFill>
            <a:srgbClr val="2F5A1E"/>
          </a:solidFill>
          <a:ln w="12700">
            <a:solidFill>
              <a:srgbClr val="2F5A1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669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E9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strategic issue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differentiation is necessary; provider economics still decide uptake.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389888"/>
            <a:ext cx="5669280" cy="2378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Buy-and-bill adoption depends on whether providers can recover acquisition, administration, and delay costs.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White-bagging can eliminate drug spread and shift the provider equation to administration-only revenue.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340B creates a structural advantage for eligible centers of excellence over community sites.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Medicaid coverage can still fail economically if PAD and NDC claim integrity break down.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and pass-through timing determine when hospital outpatient billing becomes predictable.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6656832" y="155448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E9F0DF"/>
          </a:solidFill>
          <a:ln w="12700">
            <a:solidFill>
              <a:srgbClr val="6E9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21424" y="1664208"/>
            <a:ext cx="43342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calculator is a reimbursement execution model, not a list-price model.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656832" y="2962656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3F6EC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21424" y="3072384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question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56832" y="3493008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provider afford to buy, bill, and administer adrabetadex under real-world reimbursement conditions?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502920" y="5687568"/>
            <a:ext cx="11185855" cy="0"/>
          </a:xfrm>
          <a:prstGeom prst="line">
            <a:avLst/>
          </a:prstGeom>
          <a:noFill/>
          <a:ln w="12700">
            <a:solidFill>
              <a:srgbClr val="D8DE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583387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Provider-economics framing from the brief: uptake risk emerges when clinical interest reaches the point of stocking inventory.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Adrabetadex Provider Net Cost Calculator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384048"/>
            <a:ext cx="11185855" cy="0"/>
          </a:xfrm>
          <a:prstGeom prst="line">
            <a:avLst/>
          </a:prstGeom>
          <a:noFill/>
          <a:ln w="12700">
            <a:solidFill>
              <a:srgbClr val="D8DE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597335" y="645566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2240280" cy="292608"/>
          </a:xfrm>
          <a:prstGeom prst="roundRect">
            <a:avLst>
              <a:gd name="adj" fmla="val 37500"/>
            </a:avLst>
          </a:prstGeom>
          <a:solidFill>
            <a:srgbClr val="A8CF45"/>
          </a:solidFill>
          <a:ln w="12700">
            <a:solidFill>
              <a:srgbClr val="A8CF4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23160" y="6565392"/>
            <a:ext cx="3931920" cy="292608"/>
          </a:xfrm>
          <a:prstGeom prst="roundRect">
            <a:avLst>
              <a:gd name="adj" fmla="val 37500"/>
            </a:avLst>
          </a:prstGeom>
          <a:solidFill>
            <a:srgbClr val="2F5A1E"/>
          </a:solidFill>
          <a:ln w="12700">
            <a:solidFill>
              <a:srgbClr val="2F5A1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669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E9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model is designed to show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workflow links reimbursement conditions to provider margin and working-capital exposure.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1828800" cy="640080"/>
          </a:xfrm>
          <a:prstGeom prst="chevron">
            <a:avLst/>
          </a:prstGeom>
          <a:solidFill>
            <a:srgbClr val="E9F0DF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97510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Payer / PBM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2423160" y="1828800"/>
            <a:ext cx="1828800" cy="64008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24328" y="197510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rules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4343400" y="1828800"/>
            <a:ext cx="2057400" cy="640080"/>
          </a:xfrm>
          <a:prstGeom prst="chevron">
            <a:avLst/>
          </a:prstGeom>
          <a:solidFill>
            <a:srgbClr val="E9F0DF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4568" y="197510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+ coding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492240" y="1828800"/>
            <a:ext cx="2011680" cy="64008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197510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levers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8595360" y="1828800"/>
            <a:ext cx="2057400" cy="640080"/>
          </a:xfrm>
          <a:prstGeom prst="chevron">
            <a:avLst/>
          </a:prstGeom>
          <a:solidFill>
            <a:srgbClr val="E9F0DF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96528" y="197510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result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1965960" y="2779776"/>
            <a:ext cx="1572768" cy="365760"/>
          </a:xfrm>
          <a:prstGeom prst="roundRect">
            <a:avLst>
              <a:gd name="adj" fmla="val 20000"/>
            </a:avLst>
          </a:prstGeom>
          <a:solidFill>
            <a:srgbClr val="F3F6EC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30552" y="28895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White-bagging risk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60520" y="2779776"/>
            <a:ext cx="1572768" cy="365760"/>
          </a:xfrm>
          <a:prstGeom prst="roundRect">
            <a:avLst>
              <a:gd name="adj" fmla="val 20000"/>
            </a:avLst>
          </a:prstGeom>
          <a:solidFill>
            <a:srgbClr val="F3F6EC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25112" y="28895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340B / Medicaid path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27648" y="2779776"/>
            <a:ext cx="1572768" cy="365760"/>
          </a:xfrm>
          <a:prstGeom prst="roundRect">
            <a:avLst>
              <a:gd name="adj" fmla="val 20000"/>
            </a:avLst>
          </a:prstGeom>
          <a:solidFill>
            <a:srgbClr val="F3F6EC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88950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Pass-through timing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55080" y="3840480"/>
            <a:ext cx="1920240" cy="420624"/>
          </a:xfrm>
          <a:prstGeom prst="roundRect">
            <a:avLst>
              <a:gd name="adj" fmla="val 17391"/>
            </a:avLst>
          </a:prstGeom>
          <a:solidFill>
            <a:srgbClr val="F3F6EC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3950208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outputs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4389120"/>
            <a:ext cx="2514600" cy="1115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reimbursement</a:t>
            </a:r>
            <a:endParaRPr lang="en-US" sz="1110" dirty="0"/>
          </a:p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cost exposure</a:t>
            </a:r>
            <a:endParaRPr lang="en-US" sz="1110" dirty="0"/>
          </a:p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Denial and delay risk</a:t>
            </a:r>
            <a:endParaRPr lang="en-US" sz="1110" dirty="0"/>
          </a:p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 economics</a:t>
            </a:r>
            <a:endParaRPr lang="en-US" sz="1110" dirty="0"/>
          </a:p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support threshold</a:t>
            </a:r>
            <a:endParaRPr lang="en-US" sz="1110" dirty="0"/>
          </a:p>
        </p:txBody>
      </p:sp>
      <p:sp>
        <p:nvSpPr>
          <p:cNvPr id="28" name="Shape 26"/>
          <p:cNvSpPr/>
          <p:nvPr/>
        </p:nvSpPr>
        <p:spPr>
          <a:xfrm>
            <a:off x="502920" y="3858768"/>
            <a:ext cx="5074920" cy="731520"/>
          </a:xfrm>
          <a:prstGeom prst="roundRect">
            <a:avLst>
              <a:gd name="adj" fmla="val 10000"/>
            </a:avLst>
          </a:prstGeom>
          <a:solidFill>
            <a:srgbClr val="E9F0DF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" y="3968496"/>
            <a:ext cx="4745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converts payer rules and channel mechanics into center-level economics.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2920" y="4828032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modeled as manufacturer gross-to-net. Modeled from the provider perspective: inventory at risk, time to cash, contribution margin, and the support needed to keep the site whole.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942832" y="3840480"/>
            <a:ext cx="1572768" cy="420624"/>
          </a:xfrm>
          <a:prstGeom prst="roundRect">
            <a:avLst>
              <a:gd name="adj" fmla="val 17391"/>
            </a:avLst>
          </a:prstGeom>
          <a:solidFill>
            <a:srgbClr val="F3F6EC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07424" y="395020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use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887968" y="4407408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channels are viable, which centers should activate first, and where manufacturer support changes behavior.</a:t>
            </a:r>
            <a:endParaRPr lang="en-US" sz="12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Adrabetadex Provider Net Cost Calculator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384048"/>
            <a:ext cx="11185855" cy="0"/>
          </a:xfrm>
          <a:prstGeom prst="line">
            <a:avLst/>
          </a:prstGeom>
          <a:noFill/>
          <a:ln w="12700">
            <a:solidFill>
              <a:srgbClr val="D8DE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597335" y="645566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2240280" cy="292608"/>
          </a:xfrm>
          <a:prstGeom prst="roundRect">
            <a:avLst>
              <a:gd name="adj" fmla="val 37500"/>
            </a:avLst>
          </a:prstGeom>
          <a:solidFill>
            <a:srgbClr val="A8CF45"/>
          </a:solidFill>
          <a:ln w="12700">
            <a:solidFill>
              <a:srgbClr val="A8CF4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23160" y="6565392"/>
            <a:ext cx="3931920" cy="292608"/>
          </a:xfrm>
          <a:prstGeom prst="roundRect">
            <a:avLst>
              <a:gd name="adj" fmla="val 37500"/>
            </a:avLst>
          </a:prstGeom>
          <a:solidFill>
            <a:srgbClr val="2F5A1E"/>
          </a:solidFill>
          <a:ln w="12700">
            <a:solidFill>
              <a:srgbClr val="2F5A1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669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E9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adrabetadex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clinical profile may be attractive; the economic pathway is still fragile for providers.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481328"/>
            <a:ext cx="2240280" cy="384048"/>
          </a:xfrm>
          <a:prstGeom prst="roundRect">
            <a:avLst>
              <a:gd name="adj" fmla="val 19048"/>
            </a:avLst>
          </a:prstGeom>
          <a:solidFill>
            <a:srgbClr val="F3F6EC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591056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launch assumption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938528"/>
            <a:ext cx="4297680" cy="1335024"/>
          </a:xfrm>
          <a:prstGeom prst="roundRect">
            <a:avLst>
              <a:gd name="adj" fmla="val 5479"/>
            </a:avLst>
          </a:prstGeom>
          <a:solidFill>
            <a:srgbClr val="E9F0DF"/>
          </a:solidFill>
          <a:ln w="12700">
            <a:solidFill>
              <a:srgbClr val="6E9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048256"/>
            <a:ext cx="39684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$39,000 per 900 mg vial</a:t>
            </a:r>
            <a:endParaRPr lang="en-US" sz="1820" dirty="0"/>
          </a:p>
          <a:p>
            <a:pPr marL="0" indent="0" algn="ctr">
              <a:buNone/>
            </a:pPr>
            <a:r>
              <a:rPr lang="en-US" sz="182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~$1.014M annual gross drug exposure before administration cost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5166360" y="1682496"/>
            <a:ext cx="3108960" cy="151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High-cost therapy</a:t>
            </a:r>
            <a:endParaRPr lang="en-US" sz="1380" dirty="0"/>
          </a:p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hospital-centered pathway</a:t>
            </a:r>
            <a:endParaRPr lang="en-US" sz="1380" dirty="0"/>
          </a:p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Ultra-rare pediatric setting</a:t>
            </a:r>
            <a:endParaRPr lang="en-US" sz="1380" dirty="0"/>
          </a:p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Clinically differentiated profile</a:t>
            </a:r>
            <a:endParaRPr lang="en-US" sz="1380" dirty="0"/>
          </a:p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claim failures can materially change site behavior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8595360" y="1481328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F3F6EC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59952" y="1591056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fragility for the site of care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595360" y="196596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unpaid or delayed claims can make stocking and administering adrabetadex unattractive even when demand is clinically justified.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02920" y="4160520"/>
            <a:ext cx="11185855" cy="0"/>
          </a:xfrm>
          <a:prstGeom prst="line">
            <a:avLst/>
          </a:prstGeom>
          <a:noFill/>
          <a:ln w="12700">
            <a:solidFill>
              <a:srgbClr val="D8DE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407408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the launch sensitive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45720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outlay arrives before clean reimbursement is proven.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51960" y="4407408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model matters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251960" y="4709559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shows where support, coding, and channel design change provider behavior.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28432" y="4407408"/>
            <a:ext cx="3429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implication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028432" y="478688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feasibility must be designed in before broad site activation.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Adrabetadex Provider Net Cost Calculator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384048"/>
            <a:ext cx="11185855" cy="0"/>
          </a:xfrm>
          <a:prstGeom prst="line">
            <a:avLst/>
          </a:prstGeom>
          <a:noFill/>
          <a:ln w="12700">
            <a:solidFill>
              <a:srgbClr val="D8DE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597335" y="645566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2240280" cy="292608"/>
          </a:xfrm>
          <a:prstGeom prst="roundRect">
            <a:avLst>
              <a:gd name="adj" fmla="val 37500"/>
            </a:avLst>
          </a:prstGeom>
          <a:solidFill>
            <a:srgbClr val="A8CF45"/>
          </a:solidFill>
          <a:ln w="12700">
            <a:solidFill>
              <a:srgbClr val="A8CF4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23160" y="6565392"/>
            <a:ext cx="3931920" cy="292608"/>
          </a:xfrm>
          <a:prstGeom prst="roundRect">
            <a:avLst>
              <a:gd name="adj" fmla="val 37500"/>
            </a:avLst>
          </a:prstGeom>
          <a:solidFill>
            <a:srgbClr val="2F5A1E"/>
          </a:solidFill>
          <a:ln w="12700">
            <a:solidFill>
              <a:srgbClr val="2F5A1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669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E9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launch variables that determine uptake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variable affects whether the provider can maintain a positive operating position.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11155680" cy="804672"/>
          </a:xfrm>
          <a:prstGeom prst="roundRect">
            <a:avLst>
              <a:gd name="adj" fmla="val 7955"/>
            </a:avLst>
          </a:prstGeom>
          <a:solidFill>
            <a:srgbClr val="F3F6EC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150876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Commercial Medical Benefit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3154680" y="150876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 status, specialist rules, site-of-care controls, white-bagging risk, discount sensitivity.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7104888" y="1417320"/>
            <a:ext cx="0" cy="804672"/>
          </a:xfrm>
          <a:prstGeom prst="line">
            <a:avLst/>
          </a:prstGeom>
          <a:noFill/>
          <a:ln w="12700">
            <a:solidFill>
              <a:srgbClr val="D8DE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87768" y="150876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whether buy-and-bill remains viable or is pushed toward near break-even.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02920" y="2240280"/>
            <a:ext cx="1115568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" y="233172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Medicaid claim pathway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3154680" y="233172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EPSDT tailwind, PAD methodology, NDC capture, FFS versus managed care split.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104888" y="2240280"/>
            <a:ext cx="0" cy="804672"/>
          </a:xfrm>
          <a:prstGeom prst="line">
            <a:avLst/>
          </a:prstGeom>
          <a:noFill/>
          <a:ln w="12700">
            <a:solidFill>
              <a:srgbClr val="D8DE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87768" y="233172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Distinguishes medical necessity from actual payment reliability.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02920" y="3063240"/>
            <a:ext cx="11155680" cy="804672"/>
          </a:xfrm>
          <a:prstGeom prst="roundRect">
            <a:avLst>
              <a:gd name="adj" fmla="val 7955"/>
            </a:avLst>
          </a:prstGeom>
          <a:solidFill>
            <a:srgbClr val="F3F6EC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15468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340B acquisition economics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3154680" y="315468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ceiling-price advantage, carve-in or carve-out treatment, duplicate-discount controls.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104888" y="3063240"/>
            <a:ext cx="0" cy="804672"/>
          </a:xfrm>
          <a:prstGeom prst="line">
            <a:avLst/>
          </a:prstGeom>
          <a:noFill/>
          <a:ln w="12700">
            <a:solidFill>
              <a:srgbClr val="D8DE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87768" y="315468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which COEs are structurally advantaged at launch.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502920" y="3886200"/>
            <a:ext cx="1115568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397764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Outpatient coding and pass-through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3154680" y="397764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Miscellaneous-code bridge, HCPCS timing, OPPS pass-through readiness.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104888" y="3886200"/>
            <a:ext cx="0" cy="804672"/>
          </a:xfrm>
          <a:prstGeom prst="line">
            <a:avLst/>
          </a:prstGeom>
          <a:noFill/>
          <a:ln w="12700">
            <a:solidFill>
              <a:srgbClr val="D8DE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87768" y="397764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Determines when hospital outpatient billing becomes predictable enough to scale.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502920" y="4709160"/>
            <a:ext cx="11155680" cy="804672"/>
          </a:xfrm>
          <a:prstGeom prst="roundRect">
            <a:avLst>
              <a:gd name="adj" fmla="val 7955"/>
            </a:avLst>
          </a:prstGeom>
          <a:solidFill>
            <a:srgbClr val="F3F6EC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" y="480060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Manufacturer support structure</a:t>
            </a:r>
            <a:endParaRPr lang="en-US" sz="1040" dirty="0"/>
          </a:p>
        </p:txBody>
      </p:sp>
      <p:sp>
        <p:nvSpPr>
          <p:cNvPr id="31" name="Text 29"/>
          <p:cNvSpPr/>
          <p:nvPr/>
        </p:nvSpPr>
        <p:spPr>
          <a:xfrm>
            <a:off x="3154680" y="480060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Prompt-pay discount, acquisition rebate, free-drug bridge, patient-support assumptions.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7104888" y="4709160"/>
            <a:ext cx="0" cy="804672"/>
          </a:xfrm>
          <a:prstGeom prst="line">
            <a:avLst/>
          </a:prstGeom>
          <a:noFill/>
          <a:ln w="12700">
            <a:solidFill>
              <a:srgbClr val="D8DE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87768" y="480060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Separates support that fixes provider economics from support that only reduces abandonment.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Adrabetadex Provider Net Cost Calculator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384048"/>
            <a:ext cx="11185855" cy="0"/>
          </a:xfrm>
          <a:prstGeom prst="line">
            <a:avLst/>
          </a:prstGeom>
          <a:noFill/>
          <a:ln w="12700">
            <a:solidFill>
              <a:srgbClr val="D8DE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597335" y="645566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2240280" cy="292608"/>
          </a:xfrm>
          <a:prstGeom prst="roundRect">
            <a:avLst>
              <a:gd name="adj" fmla="val 37500"/>
            </a:avLst>
          </a:prstGeom>
          <a:solidFill>
            <a:srgbClr val="A8CF45"/>
          </a:solidFill>
          <a:ln w="12700">
            <a:solidFill>
              <a:srgbClr val="A8CF4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23160" y="6565392"/>
            <a:ext cx="3931920" cy="292608"/>
          </a:xfrm>
          <a:prstGeom prst="roundRect">
            <a:avLst>
              <a:gd name="adj" fmla="val 37500"/>
            </a:avLst>
          </a:prstGeom>
          <a:solidFill>
            <a:srgbClr val="2F5A1E"/>
          </a:solidFill>
          <a:ln w="12700">
            <a:solidFill>
              <a:srgbClr val="2F5A1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669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E9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economics vary sharply by channel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scenario logic is provider-centered: buy, bill, administer, and collect.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347472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417320"/>
            <a:ext cx="91440" cy="1993392"/>
          </a:xfrm>
          <a:prstGeom prst="rect">
            <a:avLst/>
          </a:prstGeom>
          <a:solidFill>
            <a:srgbClr val="C97F68"/>
          </a:solidFill>
          <a:ln w="12700">
            <a:solidFill>
              <a:srgbClr val="C97F6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417320"/>
            <a:ext cx="3474720" cy="384048"/>
          </a:xfrm>
          <a:prstGeom prst="rect">
            <a:avLst/>
          </a:prstGeom>
          <a:solidFill>
            <a:srgbClr val="F6E7E3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1499616"/>
            <a:ext cx="804672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C97F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44952" y="1536192"/>
            <a:ext cx="6583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C97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strained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612648" y="1490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buy-and-bill</a:t>
            </a:r>
            <a:endParaRPr lang="en-US" sz="1040" dirty="0"/>
          </a:p>
          <a:p>
            <a:pPr marL="0" indent="0">
              <a:buNone/>
            </a:pPr>
            <a:r>
              <a:rPr lang="en-US" sz="104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meaningful support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612648" y="1901952"/>
            <a:ext cx="3255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$39,000 acquisition with reimbursement compression against WAC.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12648" y="2377440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/ near break-even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" y="2734056"/>
            <a:ext cx="3255264" cy="0"/>
          </a:xfrm>
          <a:prstGeom prst="line">
            <a:avLst/>
          </a:prstGeom>
          <a:noFill/>
          <a:ln w="12700">
            <a:solidFill>
              <a:srgbClr val="D8DE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2825496"/>
            <a:ext cx="3255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access may exist, but denial drag and carrying cost can deter stocking.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4087368" y="1417320"/>
            <a:ext cx="347472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87368" y="1417320"/>
            <a:ext cx="91440" cy="1993392"/>
          </a:xfrm>
          <a:prstGeom prst="rect">
            <a:avLst/>
          </a:prstGeom>
          <a:solidFill>
            <a:srgbClr val="B6A56D"/>
          </a:solidFill>
          <a:ln w="12700">
            <a:solidFill>
              <a:srgbClr val="B6A56D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87368" y="1417320"/>
            <a:ext cx="3474720" cy="384048"/>
          </a:xfrm>
          <a:prstGeom prst="rect">
            <a:avLst/>
          </a:prstGeom>
          <a:solidFill>
            <a:srgbClr val="F3F1E8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56248" y="1499616"/>
            <a:ext cx="804672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B6A56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1536192"/>
            <a:ext cx="6583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B6A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4197096" y="1490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buy-and-bill</a:t>
            </a:r>
            <a:endParaRPr lang="en-US" sz="1040" dirty="0"/>
          </a:p>
          <a:p>
            <a:pPr marL="0" indent="0">
              <a:buNone/>
            </a:pPr>
            <a:r>
              <a:rPr lang="en-US" sz="104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support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4197096" y="1901952"/>
            <a:ext cx="3255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reduced by provider-facing support of about $1,950 per dose.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97096" y="2377440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Near-neutral to modestly positive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97096" y="2734056"/>
            <a:ext cx="3255264" cy="0"/>
          </a:xfrm>
          <a:prstGeom prst="line">
            <a:avLst/>
          </a:prstGeom>
          <a:noFill/>
          <a:ln w="12700">
            <a:solidFill>
              <a:srgbClr val="D8DE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97096" y="2825496"/>
            <a:ext cx="3255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Represents the minimum realistic support threshold for non-340B participation.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7671816" y="1417320"/>
            <a:ext cx="347472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71816" y="1417320"/>
            <a:ext cx="91440" cy="1993392"/>
          </a:xfrm>
          <a:prstGeom prst="rect">
            <a:avLst/>
          </a:prstGeom>
          <a:solidFill>
            <a:srgbClr val="7AA453"/>
          </a:solidFill>
          <a:ln w="12700">
            <a:solidFill>
              <a:srgbClr val="7AA45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71816" y="1417320"/>
            <a:ext cx="3474720" cy="384048"/>
          </a:xfrm>
          <a:prstGeom prst="rect">
            <a:avLst/>
          </a:prstGeom>
          <a:solidFill>
            <a:srgbClr val="E9F0DF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40696" y="1499616"/>
            <a:ext cx="804672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7AA4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13848" y="1536192"/>
            <a:ext cx="6583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7AA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viable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7781544" y="1490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buy-and-bill</a:t>
            </a:r>
            <a:endParaRPr lang="en-US" sz="1040" dirty="0"/>
          </a:p>
          <a:p>
            <a:pPr marL="0" indent="0">
              <a:buNone/>
            </a:pPr>
            <a:r>
              <a:rPr lang="en-US" sz="104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support</a:t>
            </a:r>
            <a:endParaRPr lang="en-US" sz="1040" dirty="0"/>
          </a:p>
        </p:txBody>
      </p:sp>
      <p:sp>
        <p:nvSpPr>
          <p:cNvPr id="35" name="Text 33"/>
          <p:cNvSpPr/>
          <p:nvPr/>
        </p:nvSpPr>
        <p:spPr>
          <a:xfrm>
            <a:off x="7781544" y="1901952"/>
            <a:ext cx="3255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reduced by provider-facing support of about $3,900 per dose.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781544" y="2377440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Consistently positive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781544" y="2734056"/>
            <a:ext cx="3255264" cy="0"/>
          </a:xfrm>
          <a:prstGeom prst="line">
            <a:avLst/>
          </a:prstGeom>
          <a:noFill/>
          <a:ln w="12700">
            <a:solidFill>
              <a:srgbClr val="D8DE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81544" y="2825496"/>
            <a:ext cx="3255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Broadens adoption beyond a few high-margin centers and reduces stocking resistance.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502920" y="3794760"/>
            <a:ext cx="347472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3794760"/>
            <a:ext cx="91440" cy="1993392"/>
          </a:xfrm>
          <a:prstGeom prst="rect">
            <a:avLst/>
          </a:prstGeom>
          <a:solidFill>
            <a:srgbClr val="B6A56D"/>
          </a:solidFill>
          <a:ln w="12700">
            <a:solidFill>
              <a:srgbClr val="B6A56D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" y="3794760"/>
            <a:ext cx="3474720" cy="384048"/>
          </a:xfrm>
          <a:prstGeom prst="rect">
            <a:avLst/>
          </a:prstGeom>
          <a:solidFill>
            <a:srgbClr val="F3F1E8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71800" y="3877056"/>
            <a:ext cx="804672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B6A56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44952" y="3913632"/>
            <a:ext cx="6583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B6A5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612648" y="3867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white-bagging</a:t>
            </a:r>
            <a:endParaRPr lang="en-US" sz="1040" dirty="0"/>
          </a:p>
        </p:txBody>
      </p:sp>
      <p:sp>
        <p:nvSpPr>
          <p:cNvPr id="45" name="Text 43"/>
          <p:cNvSpPr/>
          <p:nvPr/>
        </p:nvSpPr>
        <p:spPr>
          <a:xfrm>
            <a:off x="612648" y="4279392"/>
            <a:ext cx="3255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pharmacy supplies drug; provider bills administration only.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12648" y="4754880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spread removed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2648" y="5111496"/>
            <a:ext cx="3255264" cy="0"/>
          </a:xfrm>
          <a:prstGeom prst="line">
            <a:avLst/>
          </a:prstGeom>
          <a:noFill/>
          <a:ln w="12700">
            <a:solidFill>
              <a:srgbClr val="D8DED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" y="5202936"/>
            <a:ext cx="3255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shifts to administration economics, clean claims, and operational simplicity.</a:t>
            </a:r>
            <a:endParaRPr lang="en-US" sz="930" dirty="0"/>
          </a:p>
        </p:txBody>
      </p:sp>
      <p:sp>
        <p:nvSpPr>
          <p:cNvPr id="49" name="Shape 47"/>
          <p:cNvSpPr/>
          <p:nvPr/>
        </p:nvSpPr>
        <p:spPr>
          <a:xfrm>
            <a:off x="4087368" y="3794760"/>
            <a:ext cx="347472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87368" y="3794760"/>
            <a:ext cx="91440" cy="1993392"/>
          </a:xfrm>
          <a:prstGeom prst="rect">
            <a:avLst/>
          </a:prstGeom>
          <a:solidFill>
            <a:srgbClr val="C97F68"/>
          </a:solidFill>
          <a:ln w="12700">
            <a:solidFill>
              <a:srgbClr val="C97F68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087368" y="3794760"/>
            <a:ext cx="3474720" cy="384048"/>
          </a:xfrm>
          <a:prstGeom prst="rect">
            <a:avLst/>
          </a:prstGeom>
          <a:solidFill>
            <a:srgbClr val="F6E7E3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56248" y="3877056"/>
            <a:ext cx="804672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C97F6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29400" y="3913632"/>
            <a:ext cx="6583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C97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strained</a:t>
            </a:r>
            <a:endParaRPr lang="en-US" sz="740" dirty="0"/>
          </a:p>
        </p:txBody>
      </p:sp>
      <p:sp>
        <p:nvSpPr>
          <p:cNvPr id="54" name="Text 52"/>
          <p:cNvSpPr/>
          <p:nvPr/>
        </p:nvSpPr>
        <p:spPr>
          <a:xfrm>
            <a:off x="4197096" y="3867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Medicaid non-340B</a:t>
            </a:r>
            <a:endParaRPr lang="en-US" sz="1040" dirty="0"/>
          </a:p>
        </p:txBody>
      </p:sp>
      <p:sp>
        <p:nvSpPr>
          <p:cNvPr id="55" name="Text 53"/>
          <p:cNvSpPr/>
          <p:nvPr/>
        </p:nvSpPr>
        <p:spPr>
          <a:xfrm>
            <a:off x="4197096" y="4279392"/>
            <a:ext cx="3255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may exist, but payment depends on PAD data capture and state methodology.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197096" y="4754880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participation likely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197096" y="5111496"/>
            <a:ext cx="3255264" cy="0"/>
          </a:xfrm>
          <a:prstGeom prst="line">
            <a:avLst/>
          </a:prstGeom>
          <a:noFill/>
          <a:ln w="12700">
            <a:solidFill>
              <a:srgbClr val="D8DED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97096" y="5202936"/>
            <a:ext cx="3255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Community-site economics stay unattractive without a cleaner payment path.</a:t>
            </a:r>
            <a:endParaRPr lang="en-US" sz="930" dirty="0"/>
          </a:p>
        </p:txBody>
      </p:sp>
      <p:sp>
        <p:nvSpPr>
          <p:cNvPr id="59" name="Shape 57"/>
          <p:cNvSpPr/>
          <p:nvPr/>
        </p:nvSpPr>
        <p:spPr>
          <a:xfrm>
            <a:off x="7671816" y="3794760"/>
            <a:ext cx="347472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671816" y="3794760"/>
            <a:ext cx="91440" cy="1993392"/>
          </a:xfrm>
          <a:prstGeom prst="rect">
            <a:avLst/>
          </a:prstGeom>
          <a:solidFill>
            <a:srgbClr val="4E7A24"/>
          </a:solidFill>
          <a:ln w="12700">
            <a:solidFill>
              <a:srgbClr val="4E7A24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671816" y="3794760"/>
            <a:ext cx="3474720" cy="384048"/>
          </a:xfrm>
          <a:prstGeom prst="rect">
            <a:avLst/>
          </a:prstGeom>
          <a:solidFill>
            <a:srgbClr val="DDEACE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140696" y="3877056"/>
            <a:ext cx="804672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4E7A2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213848" y="3913632"/>
            <a:ext cx="6583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advantaged</a:t>
            </a:r>
            <a:endParaRPr lang="en-US" sz="740" dirty="0"/>
          </a:p>
        </p:txBody>
      </p:sp>
      <p:sp>
        <p:nvSpPr>
          <p:cNvPr id="64" name="Text 62"/>
          <p:cNvSpPr/>
          <p:nvPr/>
        </p:nvSpPr>
        <p:spPr>
          <a:xfrm>
            <a:off x="7781544" y="3867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340B center of excellence</a:t>
            </a:r>
            <a:endParaRPr lang="en-US" sz="1040" dirty="0"/>
          </a:p>
        </p:txBody>
      </p:sp>
      <p:sp>
        <p:nvSpPr>
          <p:cNvPr id="65" name="Text 63"/>
          <p:cNvSpPr/>
          <p:nvPr/>
        </p:nvSpPr>
        <p:spPr>
          <a:xfrm>
            <a:off x="7781544" y="4279392"/>
            <a:ext cx="3255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acquisition advantage versus WAC creates structural margin support.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781544" y="4754880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Structurally advantaged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7781544" y="5111496"/>
            <a:ext cx="3255264" cy="0"/>
          </a:xfrm>
          <a:prstGeom prst="line">
            <a:avLst/>
          </a:prstGeom>
          <a:noFill/>
          <a:ln w="12700">
            <a:solidFill>
              <a:srgbClr val="D8DED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781544" y="5202936"/>
            <a:ext cx="3255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uptake is most favorable in eligible hospital systems and COEs.</a:t>
            </a:r>
            <a:endParaRPr lang="en-US" sz="9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Adrabetadex Provider Net Cost Calculator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384048"/>
            <a:ext cx="11185855" cy="0"/>
          </a:xfrm>
          <a:prstGeom prst="line">
            <a:avLst/>
          </a:prstGeom>
          <a:noFill/>
          <a:ln w="12700">
            <a:solidFill>
              <a:srgbClr val="D8DE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597335" y="645566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2240280" cy="292608"/>
          </a:xfrm>
          <a:prstGeom prst="roundRect">
            <a:avLst>
              <a:gd name="adj" fmla="val 37500"/>
            </a:avLst>
          </a:prstGeom>
          <a:solidFill>
            <a:srgbClr val="A8CF45"/>
          </a:solidFill>
          <a:ln w="12700">
            <a:solidFill>
              <a:srgbClr val="A8CF4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23160" y="6565392"/>
            <a:ext cx="3931920" cy="292608"/>
          </a:xfrm>
          <a:prstGeom prst="roundRect">
            <a:avLst>
              <a:gd name="adj" fmla="val 37500"/>
            </a:avLst>
          </a:prstGeom>
          <a:solidFill>
            <a:srgbClr val="2F5A1E"/>
          </a:solidFill>
          <a:ln w="12700">
            <a:solidFill>
              <a:srgbClr val="2F5A1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669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E9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model suggests for launch strategy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economic readout becomes a sequencing tool for launch operations.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57276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9F0DF"/>
          </a:solidFill>
          <a:ln w="12700">
            <a:solidFill>
              <a:srgbClr val="6E9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733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25296" y="162763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340B-advantaged centers of excellence early.</a:t>
            </a:r>
            <a:endParaRPr lang="en-US" sz="1340" dirty="0"/>
          </a:p>
        </p:txBody>
      </p:sp>
      <p:sp>
        <p:nvSpPr>
          <p:cNvPr id="12" name="Text 10"/>
          <p:cNvSpPr/>
          <p:nvPr/>
        </p:nvSpPr>
        <p:spPr>
          <a:xfrm>
            <a:off x="1225296" y="192024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structural margin advantage to anchor early adoption where the pathway is already favorable.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58775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9F0DF"/>
          </a:solidFill>
          <a:ln w="12700">
            <a:solidFill>
              <a:srgbClr val="6E9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883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25296" y="2642616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PBM and specialty-pharmacy rules that can force white-bagging.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1225296" y="2935224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sourcing rules as launch design inputs, not downstream contracting details.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60273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9F0DF"/>
          </a:solidFill>
          <a:ln w="12700">
            <a:solidFill>
              <a:srgbClr val="6E9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70332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25296" y="365760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 the minimum provider support needed for non-340B uptake.</a:t>
            </a:r>
            <a:endParaRPr lang="en-US" sz="1340" dirty="0"/>
          </a:p>
        </p:txBody>
      </p:sp>
      <p:sp>
        <p:nvSpPr>
          <p:cNvPr id="20" name="Text 18"/>
          <p:cNvSpPr/>
          <p:nvPr/>
        </p:nvSpPr>
        <p:spPr>
          <a:xfrm>
            <a:off x="1225296" y="3950208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provider-facing support from patient affordability support when setting launch budgets.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46177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9F0DF"/>
          </a:solidFill>
          <a:ln w="12700">
            <a:solidFill>
              <a:srgbClr val="6E9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71830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225296" y="4672584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HCPCS and pass-through readiness into outpatient sequencing.</a:t>
            </a:r>
            <a:endParaRPr lang="en-US" sz="1340" dirty="0"/>
          </a:p>
        </p:txBody>
      </p:sp>
      <p:sp>
        <p:nvSpPr>
          <p:cNvPr id="24" name="Text 22"/>
          <p:cNvSpPr/>
          <p:nvPr/>
        </p:nvSpPr>
        <p:spPr>
          <a:xfrm>
            <a:off x="1225296" y="496519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hospital-outpatient readiness around code timing and the earliest practical pass-through window.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863840" y="1508760"/>
            <a:ext cx="2057400" cy="402336"/>
          </a:xfrm>
          <a:prstGeom prst="roundRect">
            <a:avLst>
              <a:gd name="adj" fmla="val 18182"/>
            </a:avLst>
          </a:prstGeom>
          <a:solidFill>
            <a:srgbClr val="F3F6EC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28432" y="161848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takeaway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543800" y="2176272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E9F0DF"/>
          </a:solidFill>
          <a:ln w="12700">
            <a:solidFill>
              <a:srgbClr val="6E9F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08392" y="2286000"/>
            <a:ext cx="3328416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4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differentiation may open doors, but reimbursement mechanics determine scalable site activation.</a:t>
            </a:r>
            <a:endParaRPr lang="en-US" sz="16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Adrabetadex Provider Net Cost Calculator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384048"/>
            <a:ext cx="11185855" cy="0"/>
          </a:xfrm>
          <a:prstGeom prst="line">
            <a:avLst/>
          </a:prstGeom>
          <a:noFill/>
          <a:ln w="12700">
            <a:solidFill>
              <a:srgbClr val="D8DE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597335" y="645566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2240280" cy="292608"/>
          </a:xfrm>
          <a:prstGeom prst="roundRect">
            <a:avLst>
              <a:gd name="adj" fmla="val 37500"/>
            </a:avLst>
          </a:prstGeom>
          <a:solidFill>
            <a:srgbClr val="A8CF45"/>
          </a:solidFill>
          <a:ln w="12700">
            <a:solidFill>
              <a:srgbClr val="A8CF4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23160" y="6565392"/>
            <a:ext cx="3931920" cy="292608"/>
          </a:xfrm>
          <a:prstGeom prst="roundRect">
            <a:avLst>
              <a:gd name="adj" fmla="val 37500"/>
            </a:avLst>
          </a:prstGeom>
          <a:solidFill>
            <a:srgbClr val="2F5A1E"/>
          </a:solidFill>
          <a:ln w="12700">
            <a:solidFill>
              <a:srgbClr val="2F5A1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669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E9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calculator format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decision-facing front end with a transparent assumptions engine behind it.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463040"/>
            <a:ext cx="534924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463040"/>
            <a:ext cx="5349240" cy="438912"/>
          </a:xfrm>
          <a:prstGeom prst="rect">
            <a:avLst/>
          </a:prstGeom>
          <a:solidFill>
            <a:srgbClr val="E9F0DF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15819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end: decision summary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057400"/>
            <a:ext cx="4892040" cy="420624"/>
          </a:xfrm>
          <a:prstGeom prst="roundRect">
            <a:avLst>
              <a:gd name="adj" fmla="val 17391"/>
            </a:avLst>
          </a:prstGeom>
          <a:solidFill>
            <a:srgbClr val="F3F6EC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167128"/>
            <a:ext cx="4562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buy-and-bill summary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731520" y="2660904"/>
            <a:ext cx="48920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770632"/>
            <a:ext cx="4562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white-bagging summary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731520" y="3264408"/>
            <a:ext cx="4892040" cy="420624"/>
          </a:xfrm>
          <a:prstGeom prst="roundRect">
            <a:avLst>
              <a:gd name="adj" fmla="val 17391"/>
            </a:avLst>
          </a:prstGeom>
          <a:solidFill>
            <a:srgbClr val="F3F6EC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374136"/>
            <a:ext cx="4562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Medicaid non-340B summary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731520" y="3867912"/>
            <a:ext cx="489204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3977640"/>
            <a:ext cx="4562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340B and COE summary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731520" y="4471416"/>
            <a:ext cx="4892040" cy="420624"/>
          </a:xfrm>
          <a:prstGeom prst="roundRect">
            <a:avLst>
              <a:gd name="adj" fmla="val 17391"/>
            </a:avLst>
          </a:prstGeom>
          <a:solidFill>
            <a:srgbClr val="F3F6EC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581144"/>
            <a:ext cx="4562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outpatient pass-through summary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6327648" y="1463040"/>
            <a:ext cx="5358384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27648" y="1463040"/>
            <a:ext cx="5358384" cy="438912"/>
          </a:xfrm>
          <a:prstGeom prst="rect">
            <a:avLst/>
          </a:prstGeom>
          <a:solidFill>
            <a:srgbClr val="E9F0DF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15819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end: assumptions engine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56248" y="2057400"/>
            <a:ext cx="4901184" cy="420624"/>
          </a:xfrm>
          <a:prstGeom prst="roundRect">
            <a:avLst>
              <a:gd name="adj" fmla="val 17391"/>
            </a:avLst>
          </a:prstGeom>
          <a:solidFill>
            <a:srgbClr val="F3F6EC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21671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 logic by channel and site of care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6556248" y="2660904"/>
            <a:ext cx="490118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27706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benchmark references and payer-policy notes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6556248" y="3264408"/>
            <a:ext cx="4901184" cy="420624"/>
          </a:xfrm>
          <a:prstGeom prst="roundRect">
            <a:avLst>
              <a:gd name="adj" fmla="val 17391"/>
            </a:avLst>
          </a:prstGeom>
          <a:solidFill>
            <a:srgbClr val="F3F6EC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33741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support toggles and break-even logic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556248" y="3867912"/>
            <a:ext cx="490118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39776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Center-specific assumptions and local overrides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6556248" y="4471416"/>
            <a:ext cx="4901184" cy="420624"/>
          </a:xfrm>
          <a:prstGeom prst="roundRect">
            <a:avLst>
              <a:gd name="adj" fmla="val 17391"/>
            </a:avLst>
          </a:prstGeom>
          <a:solidFill>
            <a:srgbClr val="F3F6EC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45811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performance inputs and working-capital assumptions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4572000" y="5577840"/>
            <a:ext cx="28346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36592" y="5687568"/>
            <a:ext cx="25054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outputs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56432" y="5989320"/>
            <a:ext cx="2148840" cy="457200"/>
          </a:xfrm>
          <a:prstGeom prst="roundRect">
            <a:avLst>
              <a:gd name="adj" fmla="val 16000"/>
            </a:avLst>
          </a:prstGeom>
          <a:solidFill>
            <a:srgbClr val="E9F0DF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21024" y="6099048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Contracting priority list</a:t>
            </a:r>
            <a:endParaRPr lang="en-US" sz="1180" dirty="0"/>
          </a:p>
        </p:txBody>
      </p:sp>
      <p:sp>
        <p:nvSpPr>
          <p:cNvPr id="39" name="Shape 37"/>
          <p:cNvSpPr/>
          <p:nvPr/>
        </p:nvSpPr>
        <p:spPr>
          <a:xfrm>
            <a:off x="6492240" y="5989320"/>
            <a:ext cx="2148840" cy="457200"/>
          </a:xfrm>
          <a:prstGeom prst="roundRect">
            <a:avLst>
              <a:gd name="adj" fmla="val 16000"/>
            </a:avLst>
          </a:prstGeom>
          <a:solidFill>
            <a:srgbClr val="E9F0DF"/>
          </a:solidFill>
          <a:ln w="12700">
            <a:solidFill>
              <a:srgbClr val="B8C5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56832" y="6099048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action list</a:t>
            </a:r>
            <a:endParaRPr lang="en-US" sz="11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Adrabetadex Provider Net Cost Calculator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02920" y="384048"/>
            <a:ext cx="11185855" cy="0"/>
          </a:xfrm>
          <a:prstGeom prst="line">
            <a:avLst/>
          </a:prstGeom>
          <a:noFill/>
          <a:ln w="12700">
            <a:solidFill>
              <a:srgbClr val="D8DE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597335" y="645566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2240280" cy="292608"/>
          </a:xfrm>
          <a:prstGeom prst="roundRect">
            <a:avLst>
              <a:gd name="adj" fmla="val 37500"/>
            </a:avLst>
          </a:prstGeom>
          <a:solidFill>
            <a:srgbClr val="A8CF45"/>
          </a:solidFill>
          <a:ln w="12700">
            <a:solidFill>
              <a:srgbClr val="A8CF4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23160" y="6565392"/>
            <a:ext cx="3931920" cy="292608"/>
          </a:xfrm>
          <a:prstGeom prst="roundRect">
            <a:avLst>
              <a:gd name="adj" fmla="val 37500"/>
            </a:avLst>
          </a:prstGeom>
          <a:solidFill>
            <a:srgbClr val="2F5A1E"/>
          </a:solidFill>
          <a:ln w="12700">
            <a:solidFill>
              <a:srgbClr val="2F5A1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669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E9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launch opportunity is real, but site-level economics will decide whether it scales.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E9F0DF"/>
          </a:solidFill>
          <a:ln w="12700">
            <a:solidFill>
              <a:srgbClr val="6E9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709928"/>
            <a:ext cx="201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168249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Adrabetadex may have a compelling clinical story.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2606040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E9F0DF"/>
          </a:solidFill>
          <a:ln w="12700">
            <a:solidFill>
              <a:srgbClr val="6E9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715768"/>
            <a:ext cx="201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2697480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uptake will still be determined by reimbursement execution and channel design.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3611880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E9F0DF"/>
          </a:solidFill>
          <a:ln w="12700">
            <a:solidFill>
              <a:srgbClr val="6E9F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721608"/>
            <a:ext cx="201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3703320"/>
            <a:ext cx="5349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4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provider net cost calculator before launch to prioritize channels, centers, and support design.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818120" y="1828800"/>
            <a:ext cx="2743200" cy="1664208"/>
          </a:xfrm>
          <a:prstGeom prst="roundRect">
            <a:avLst>
              <a:gd name="adj" fmla="val 4396"/>
            </a:avLst>
          </a:prstGeom>
          <a:solidFill>
            <a:srgbClr val="E9F0DF"/>
          </a:solidFill>
          <a:ln w="12700">
            <a:solidFill>
              <a:srgbClr val="6E9F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82712" y="1938528"/>
            <a:ext cx="241401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80" b="1" dirty="0">
                <a:solidFill>
                  <a:srgbClr val="4E7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reimbursement design can turn clinical interest into operational adoption.</a:t>
            </a:r>
            <a:endParaRPr lang="en-US" sz="15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1166</Words>
  <Application>Microsoft Macintosh PowerPoint</Application>
  <PresentationFormat>Widescreen</PresentationFormat>
  <Paragraphs>184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JL Policy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Adrabetadex Provider Net Cost Calculator</dc:title>
  <dc:subject>Adrabetadex Provider Net Cost Calculator</dc:subject>
  <dc:creator>OpenAI Codex</dc:creator>
  <cp:lastModifiedBy>Joseph Stewart</cp:lastModifiedBy>
  <cp:revision>2</cp:revision>
  <dcterms:created xsi:type="dcterms:W3CDTF">2026-04-09T17:55:51Z</dcterms:created>
  <dcterms:modified xsi:type="dcterms:W3CDTF">2026-04-13T11:38:06Z</dcterms:modified>
</cp:coreProperties>
</file>