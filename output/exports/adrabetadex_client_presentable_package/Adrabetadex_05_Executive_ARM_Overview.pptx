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cfacf288b43de" /><Relationship Type="http://schemas.openxmlformats.org/officeDocument/2006/relationships/extended-properties" Target="/docProps/app.xml" Id="R18f6a99cd16d4022" /><Relationship Type="http://schemas.openxmlformats.org/officeDocument/2006/relationships/officeDocument" Target="/ppt/presentation.xml" Id="R86e5de53a867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5614432464452"/>
  </p:sldMasterIdLst>
  <p:notesMasterIdLst>
    <p:notesMasterId xmlns:r="http://schemas.openxmlformats.org/officeDocument/2006/relationships" r:id="R30c04aa73ced4d95"/>
  </p:notesMasterIdLst>
  <p:sldIdLst>
    <p:sldId xmlns:r="http://schemas.openxmlformats.org/officeDocument/2006/relationships" id="256" r:id="R406a90f796a14d35"/>
    <p:sldId xmlns:r="http://schemas.openxmlformats.org/officeDocument/2006/relationships" id="257" r:id="R4f089e4f4d1040e6"/>
    <p:sldId xmlns:r="http://schemas.openxmlformats.org/officeDocument/2006/relationships" id="258" r:id="Rdfc13e9a78dd4672"/>
    <p:sldId xmlns:r="http://schemas.openxmlformats.org/officeDocument/2006/relationships" id="259" r:id="R6eeb9c08f4884479"/>
    <p:sldId xmlns:r="http://schemas.openxmlformats.org/officeDocument/2006/relationships" id="260" r:id="Re37630d791344fe9"/>
    <p:sldId xmlns:r="http://schemas.openxmlformats.org/officeDocument/2006/relationships" id="261" r:id="R03e33770e1f94416"/>
    <p:sldId xmlns:r="http://schemas.openxmlformats.org/officeDocument/2006/relationships" id="262" r:id="R6701ab72b7d14bf2"/>
    <p:sldId xmlns:r="http://schemas.openxmlformats.org/officeDocument/2006/relationships" id="263" r:id="Rabd2a1826cb34768"/>
    <p:sldId xmlns:r="http://schemas.openxmlformats.org/officeDocument/2006/relationships" id="264" r:id="R83f1b5a3bc2140be"/>
    <p:sldId xmlns:r="http://schemas.openxmlformats.org/officeDocument/2006/relationships" id="265" r:id="R9be241d8caae46c0"/>
    <p:sldId xmlns:r="http://schemas.openxmlformats.org/officeDocument/2006/relationships" id="266" r:id="Rffadf176508149ba"/>
    <p:sldId xmlns:r="http://schemas.openxmlformats.org/officeDocument/2006/relationships" id="267" r:id="R7152a16640c445bf"/>
    <p:sldId xmlns:r="http://schemas.openxmlformats.org/officeDocument/2006/relationships" id="268" r:id="Rd0b0ab0fc156482c"/>
    <p:sldId xmlns:r="http://schemas.openxmlformats.org/officeDocument/2006/relationships" id="269" r:id="Rd62336ab968342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5614432464452" /><Relationship Type="http://schemas.openxmlformats.org/officeDocument/2006/relationships/theme" Target="/ppt/theme/theme1.xml" Id="R024d18dddefc4469" /><Relationship Type="http://schemas.openxmlformats.org/officeDocument/2006/relationships/notesMaster" Target="/ppt/notesMasters/notesMaster1.xml" Id="R30c04aa73ced4d95" /><Relationship Type="http://schemas.openxmlformats.org/officeDocument/2006/relationships/presProps" Target="/ppt/presProps.xml" Id="R0b97c686c19a4495" /><Relationship Type="http://schemas.openxmlformats.org/officeDocument/2006/relationships/viewProps" Target="/ppt/viewProps.xml" Id="Ra3a999a7f80149c8" /><Relationship Type="http://schemas.openxmlformats.org/officeDocument/2006/relationships/tableStyles" Target="/ppt/tableStyles.xml" Id="R55a2cb4716ea4be2" /><Relationship Type="http://schemas.openxmlformats.org/officeDocument/2006/relationships/slide" Target="/ppt/slides/slide1.xml" Id="R406a90f796a14d35" /><Relationship Type="http://schemas.openxmlformats.org/officeDocument/2006/relationships/slide" Target="/ppt/slides/slide2.xml" Id="R4f089e4f4d1040e6" /><Relationship Type="http://schemas.openxmlformats.org/officeDocument/2006/relationships/slide" Target="/ppt/slides/slide3.xml" Id="Rdfc13e9a78dd4672" /><Relationship Type="http://schemas.openxmlformats.org/officeDocument/2006/relationships/slide" Target="/ppt/slides/slide4.xml" Id="R6eeb9c08f4884479" /><Relationship Type="http://schemas.openxmlformats.org/officeDocument/2006/relationships/slide" Target="/ppt/slides/slide5.xml" Id="Re37630d791344fe9" /><Relationship Type="http://schemas.openxmlformats.org/officeDocument/2006/relationships/slide" Target="/ppt/slides/slide6.xml" Id="R03e33770e1f94416" /><Relationship Type="http://schemas.openxmlformats.org/officeDocument/2006/relationships/slide" Target="/ppt/slides/slide7.xml" Id="R6701ab72b7d14bf2" /><Relationship Type="http://schemas.openxmlformats.org/officeDocument/2006/relationships/slide" Target="/ppt/slides/slide8.xml" Id="Rabd2a1826cb34768" /><Relationship Type="http://schemas.openxmlformats.org/officeDocument/2006/relationships/slide" Target="/ppt/slides/slide9.xml" Id="R83f1b5a3bc2140be" /><Relationship Type="http://schemas.openxmlformats.org/officeDocument/2006/relationships/slide" Target="/ppt/slides/slide10.xml" Id="R9be241d8caae46c0" /><Relationship Type="http://schemas.openxmlformats.org/officeDocument/2006/relationships/slide" Target="/ppt/slides/slide11.xml" Id="Rffadf176508149ba" /><Relationship Type="http://schemas.openxmlformats.org/officeDocument/2006/relationships/slide" Target="/ppt/slides/slide12.xml" Id="R7152a16640c445bf" /><Relationship Type="http://schemas.openxmlformats.org/officeDocument/2006/relationships/slide" Target="/ppt/slides/slide13.xml" Id="Rd0b0ab0fc156482c" /><Relationship Type="http://schemas.openxmlformats.org/officeDocument/2006/relationships/slide" Target="/ppt/slides/slide14.xml" Id="Rd62336ab9683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79b450ae659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9ed35707284612" /><Relationship Type="http://schemas.openxmlformats.org/officeDocument/2006/relationships/notesMaster" Target="/ppt/notesMasters/notesMaster1.xml" Id="R5d22e4b83bd14c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15e82c7c24e31" /><Relationship Type="http://schemas.openxmlformats.org/officeDocument/2006/relationships/notesMaster" Target="/ppt/notesMasters/notesMaster1.xml" Id="Rf96c765e55b9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66894972ec4861" /><Relationship Type="http://schemas.openxmlformats.org/officeDocument/2006/relationships/notesMaster" Target="/ppt/notesMasters/notesMaster1.xml" Id="Rf3683aab703e40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5d4be1574c421a" /><Relationship Type="http://schemas.openxmlformats.org/officeDocument/2006/relationships/notesMaster" Target="/ppt/notesMasters/notesMaster1.xml" Id="R36515c7b30f0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0a523a619432e" /><Relationship Type="http://schemas.openxmlformats.org/officeDocument/2006/relationships/notesMaster" Target="/ppt/notesMasters/notesMaster1.xml" Id="R466d1ac4e59448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2050ade2af4821" /><Relationship Type="http://schemas.openxmlformats.org/officeDocument/2006/relationships/notesMaster" Target="/ppt/notesMasters/notesMaster1.xml" Id="Ra38768d5ece0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84fe9efcff491d" /><Relationship Type="http://schemas.openxmlformats.org/officeDocument/2006/relationships/notesMaster" Target="/ppt/notesMasters/notesMaster1.xml" Id="Rd9f6697e6ae9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9c1ef638d84518" /><Relationship Type="http://schemas.openxmlformats.org/officeDocument/2006/relationships/notesMaster" Target="/ppt/notesMasters/notesMaster1.xml" Id="R5622e0e0d51743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895c20920c464a" /><Relationship Type="http://schemas.openxmlformats.org/officeDocument/2006/relationships/notesMaster" Target="/ppt/notesMasters/notesMaster1.xml" Id="R1e3f790f2f6646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517bef15d4377" /><Relationship Type="http://schemas.openxmlformats.org/officeDocument/2006/relationships/notesMaster" Target="/ppt/notesMasters/notesMaster1.xml" Id="Rbbf1eac57caa4b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dadd500266435f" /><Relationship Type="http://schemas.openxmlformats.org/officeDocument/2006/relationships/notesMaster" Target="/ppt/notesMasters/notesMaster1.xml" Id="Rfeeee454f50749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61be24d5184e0c" /><Relationship Type="http://schemas.openxmlformats.org/officeDocument/2006/relationships/notesMaster" Target="/ppt/notesMasters/notesMaster1.xml" Id="R3e709867cd2749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ff7196ad644757" /><Relationship Type="http://schemas.openxmlformats.org/officeDocument/2006/relationships/notesMaster" Target="/ppt/notesMasters/notesMaster1.xml" Id="R9ec5d04830c34e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42f69953a4211" /><Relationship Type="http://schemas.openxmlformats.org/officeDocument/2006/relationships/notesMaster" Target="/ppt/notesMasters/notesMaster1.xml" Id="Rf763317fcf0c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This deck is a planning-oriented ARM training guide linking coding, payment, and provider economics for launch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present any reimbursement or coverage result as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is the practical objective of this ARM discussion?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Coverage is necessary but provider economics drive whether access is operationally sustainable at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economics alone determines clinical adoption.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Why should we discuss economics early instead of after claim denials?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Anchor on planning assumptions: WAC 39000, q2w dosing, 26 annual administrations, annual gross WAC 1014000.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present these figures as contracted net price or guaranteed reimbursement.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launch economics baseline should finance and pharmacy teams model?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Use these figures as planning assumptions and validate payer-specific terms before operational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claim a single benchmark applies uniformly across all plans and 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Which numbers should we align on before implementation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- 340B COE is the default planning scenario; non-340B should be framed as sensitivity/exception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340B economics are identical across entities or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does 340B status change spread and affordability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EAP access may support continuity but does not replace coding, billing, and contract readiness for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characterize EAP experience as proof of commercial reimbursement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Why is EAP experience insufficient for ongoing site economics?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Keep the discussion on Timing Roadmap (Planning Assumptions) practical, planning-oriented, and tied to payer-specific verification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represent assumptions or timelines as guaranteed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decision or clarification should this slide provide to the provider team?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Pass-through can improve payment visibility but does not replace payer policy management or site operations planning.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imply pass-through guarantees favorable net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changes operationally if pass-through is granted?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White-bagging is a payer-driven toggle that can materially change provider economics and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describe white-bagging as a provider-controlled decision in most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could payer distribution controls alter site economics?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Medicaid pathways can differ by state and pediatric policy context, so planning should remain state- and payer-specific.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generalize one state policy to all Medicaid programs.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should pediatric and Medicaid variability be framed in launch planning?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The calculator is a structured conversation tool to test assumptions and compare site-level economic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frame output as a guaranteed forecast of realized margin.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do we apply assumptions consistently during provider discussions?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Handle objections by anchoring to verified policy mechanics, planning assumptions, and site-specific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counter objections with guaranteed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How should ARMs respond when providers challenge feasibility at launch?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Summarize that execution depends on economics, policy timing, payer controls, and disciplined assumption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collapse nuanced payer and site variation into one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should the provider team remember after this discussion?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slide answers:</a:t>
            </a:r>
          </a:p>
          <a:p xmlns:a="http://schemas.openxmlformats.org/drawingml/2006/main">
            <a:r>
              <a:t>- Use this as a concise reinforcement tool after the discussion and tailor follow-up to payer-specific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not to overstate:</a:t>
            </a:r>
          </a:p>
          <a:p xmlns:a="http://schemas.openxmlformats.org/drawingml/2006/main">
            <a:r>
              <a:t>- Do not use this page as a substitute for detailed policy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question this slide answers:</a:t>
            </a:r>
          </a:p>
          <a:p xmlns:a="http://schemas.openxmlformats.org/drawingml/2006/main">
            <a:r>
              <a:t>- What is the concise summary of the ARM position?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2761778074c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93027A-371A-4ACF-8002-DFE4F8ED16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3AF643-1110-4216-9010-38C328BFF6F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f2cdb3571bd4b18" /><Relationship Type="http://schemas.openxmlformats.org/officeDocument/2006/relationships/slideLayout" Target="/ppt/slideLayouts/slideLayout2.xml" Id="Rb60c751d3c3f4c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AC989C-2B14-4AE8-B74C-28BDB013A2F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c751d3c3f4c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9d52f9abc9415d" /><Relationship Type="http://schemas.openxmlformats.org/officeDocument/2006/relationships/notesSlide" Target="/ppt/notesSlides/notesSlide1.xml" Id="R477d1aba811f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cbb665d47d4799" /><Relationship Type="http://schemas.openxmlformats.org/officeDocument/2006/relationships/notesSlide" Target="/ppt/notesSlides/notesSlide2.xml" Id="Rf56c7a0d3eb345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5d480c23e40b0" /><Relationship Type="http://schemas.openxmlformats.org/officeDocument/2006/relationships/notesSlide" Target="/ppt/notesSlides/notesSlide3.xml" Id="R99051098c5ed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e3d5b64174a66" /><Relationship Type="http://schemas.openxmlformats.org/officeDocument/2006/relationships/notesSlide" Target="/ppt/notesSlides/notesSlide4.xml" Id="Ra637b50519fb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b67c274654e3a" /><Relationship Type="http://schemas.openxmlformats.org/officeDocument/2006/relationships/notesSlide" Target="/ppt/notesSlides/notesSlide5.xml" Id="R4e715704ba75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a04a7414e3477d" /><Relationship Type="http://schemas.openxmlformats.org/officeDocument/2006/relationships/notesSlide" Target="/ppt/notesSlides/notesSlide6.xml" Id="Ra90f15dcef9e4f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aedf8eb4a4321" /><Relationship Type="http://schemas.openxmlformats.org/officeDocument/2006/relationships/notesSlide" Target="/ppt/notesSlides/notesSlide7.xml" Id="R05233113c9e6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500b2e4a294aa7" /><Relationship Type="http://schemas.openxmlformats.org/officeDocument/2006/relationships/notesSlide" Target="/ppt/notesSlides/notesSlide8.xml" Id="R910e957fa8ee4b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3858741bd434e" /><Relationship Type="http://schemas.openxmlformats.org/officeDocument/2006/relationships/notesSlide" Target="/ppt/notesSlides/notesSlide9.xml" Id="R46e9d2e9146947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8c96d074348b9" /><Relationship Type="http://schemas.openxmlformats.org/officeDocument/2006/relationships/notesSlide" Target="/ppt/notesSlides/notesSlide10.xml" Id="R0b049a6d1cd046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c968968114ce0" /><Relationship Type="http://schemas.openxmlformats.org/officeDocument/2006/relationships/notesSlide" Target="/ppt/notesSlides/notesSlide11.xml" Id="Rae91e2759aa847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7ffef774504c8e" /><Relationship Type="http://schemas.openxmlformats.org/officeDocument/2006/relationships/notesSlide" Target="/ppt/notesSlides/notesSlide12.xml" Id="R9329384bc11a44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2b0d2aa9048d4" /><Relationship Type="http://schemas.openxmlformats.org/officeDocument/2006/relationships/notesSlide" Target="/ppt/notesSlides/notesSlide13.xml" Id="Rbdd9e193086f40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8ea2aa5bc4c2f" /><Relationship Type="http://schemas.openxmlformats.org/officeDocument/2006/relationships/notesSlide" Target="/ppt/notesSlides/notesSlide14.xml" Id="Rc84848bb7d86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27B1E-1BD9-4B5B-8110-61033C7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1EA2-299D-4347-B52F-68E9A816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6192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47B85-E1FA-4A0E-9BA1-3262FDC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0100"/>
            <a:ext cx="95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ECC1C-41A7-4443-B869-DC21AFC2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334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Adrabetadex Coding, Reimbursement, and Provider Economics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3F508-E201-4797-994B-3353686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B5563"/>
                </a:solidFill>
              </a:defRPr>
            </a:pPr>
            <a:r>
              <a:rPr sz="2250" b="1">
                <a:solidFill>
                  <a:srgbClr val="4B5563"/>
                </a:solidFill>
              </a:rPr>
              <a:t>ARM Training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0B3DA-04D9-4C39-8E6B-B78BD6F7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A265D-9E5E-4720-8EF2-C364D93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86175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Audience: Area Reimbursement Managers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BF57-63F6-4F38-9CB1-F2F93B83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1D58E-E6B6-41B8-B75A-D338BE84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Core Message: Adrabetadex is not only a coverage conversation. It is a provider economics conversation.</a:t>
            </a:r>
          </a:p>
        </p:txBody>
      </p:sp>
    </p:spTree>
    <p:extLst>
      <p:ext uri="{BB962C8B-B14F-4D97-AF65-F5344CB8AC3E}">
        <p14:creationId xmlns:p14="http://schemas.microsoft.com/office/powerpoint/2010/main" val="232712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A3756-4A29-409A-B972-889EB407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CFEAF-27C6-49B4-9AF5-B37D5BE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3FF20-07C8-41B3-B57F-CDC4DDB4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6D077-81CB-4A83-993D-CAC4828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Why This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5F6A6-A254-4224-83E5-02607E3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62D5B-A32D-4993-992F-49F3A66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3BB00-34F0-4840-A18B-C6ED49AD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Launch success depends on more than coverage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Sites must acquire, code, bill, and recover cost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High-cost recurring therapy creates margin and cash-flow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B7A79-C5F7-471D-8821-D6CF934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022FB-44C8-40B2-9D6E-3A22763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Not Just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C352B-CFF3-4119-8A47-A783953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D8E21-617C-40C4-A33F-7949E9E8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Provider Economics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AE669-7596-4E2B-BB51-53F2105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FF5DA-2792-46AF-B187-45FC1D3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31795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DC83D-9732-499C-8866-649B974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F9A8E-CA3A-4B28-B5A0-08CE184A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8C09A-9CFB-4D9B-9DB6-AE86ABE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A98D0-B563-4C47-B684-46E5AFFC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Key Economics At Launch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ABE60-AEFC-4B0D-9F51-A9A0AB7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E5C9-4258-4116-8000-D773CF81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5FE0-A4A7-486A-96AA-E3000A3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17071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17071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WAC per 900 mg vial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17071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Dosing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Every 2 weeks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517071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administrations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26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517071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gross drug WAC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$1,014,000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0726D-491B-4583-AF14-8F64D393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Sites will ask whether they can recover cost without recurring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4C158-7568-493E-9F7E-F44EEE49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5D6DF-7797-4FD4-BA8F-A0CC68E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77731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4EC07-574A-406B-917B-D1FA4DF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6EA9-B1DE-4B32-9B9D-A8359338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BF1FD-51A3-4AC3-9B0F-469511A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1A629-9E4C-4EC8-838D-781A3F6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Launch Figures ARMs Must Know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35C16-C96B-4710-B9A0-2C6AEA4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45B9A-017F-4B6E-B1D9-DCEC8BA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1F6EF-7050-4B17-B91B-E618914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97417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Figure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Working assumption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9741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Base acquisition anchor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9741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Dosing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Every 2 weeks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26 annual administrations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49741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Annual gross drug 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$1,014,000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Patient-level exposure framing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49741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6-month exposure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$507,000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Near-term cash exposure view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03A81-6D79-4F29-B097-AC41B06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0373D-4BE2-4E35-AD69-F154279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72033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C1DD-8B25-4824-A95F-4EE7F06C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06E9A-F6B1-46EA-A18C-E0045CF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AF912-CF0E-43B2-AF9C-723D0C3B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EC78-6293-45DF-8B5B-2AAF8FBC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Why 340B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DDD2B-79BB-43F2-8915-E8059521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05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B36EB-A405-405C-84D0-99A5E991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D731E-33F8-438E-B0FF-4D918C1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340B changes acquisition economics.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872D8-E7DC-4330-A9E1-495C7242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628650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Acquisition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Payment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Spread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286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Commercial buy-and-bill at WAC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286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Medicare initial sales benchmark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$39,000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$40,170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$1,170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286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+ same benchmark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$29,991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$40,170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$10,179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286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White-bagging (payer-driven)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$0 provider acquisition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$0 drug reimbursement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$0 spread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5E44E-3CAD-4A03-8B87-7A5AB0B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340B can be the difference between fragile and sustainable economics.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E2979-C306-4497-BD72-2F1FFF8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15649-ECCD-4B85-A60C-3ED09D4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34997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7C13-144C-4B92-ADBA-7ED70C2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26D72-D1AC-4140-AD6B-245CA37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541F1-BA79-498B-AE59-36B2A22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2C17-17A1-41FF-8C00-C361222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EAP Does Not Equal Launch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15A06-40A3-4278-B1FE-CDBCBF5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06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9EC87-1BD2-4855-9D86-26554AD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AB4B2-46D8-4055-A2A2-4E210B63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EAP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AC865-2B69-4BF9-9A94-80F45F6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Commercial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5D412-FEF5-453A-BE93-6BD300A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334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AE1EA-F73C-4C5E-A324-7A410CE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34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8E6B7-4AE1-4D38-AB1E-1279D12B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905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Manufacturer-supported access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Clinical familiarity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2197-9D82-40BF-90F6-305F9DD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4905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coding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claims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sourcing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payment timing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reconciliation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DCC9E-399D-46B3-8394-440B18A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A site may know how to administer Adrabetadex clinically and still not be commercially ready.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FDE4F-697A-46E6-9569-598D467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B134A-5C1A-4DB2-A364-FA5D167F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8475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F577F-91AF-49E4-8D0B-C81FA1BF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DABA9-1504-4AEE-9B61-790F41B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D938F-A4B0-4322-ABC1-A354819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8A66A-BF39-4F78-956E-495A330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Timing Roadmap (Planning Assumptions)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2F16B-7DD5-46D7-81BC-D6D1725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07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8BA29-12BE-4B15-A30C-40310E3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358C8-7D84-427B-B40C-5395307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013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AB0E5-BCFD-4BA1-9E09-99F47A5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2096F-ADEF-42B5-8113-0518466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Aug 17, 2026 (planning assumption)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DC301-62CC-463B-9E6C-9150F83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Regulatory decision planning checkpoint (if granted)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82024-8EE4-46A4-B70D-ED36016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230B8-277B-498D-8BA1-6940733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Sep 2026 (planning assumption)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85F1A-F9DA-4079-AAA9-4083F54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Pass-through submission planning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D1A23-66E8-4C5E-A7EA-94BF4484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78220-9319-4BE3-98C7-499B915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Oct 1, 2026 (if granted)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B603D-20CA-4011-B1A6-F1C1A2E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First post-decision HCPCS application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37814-81FA-4428-B3BB-960B92D0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FA64C-4FE8-4C41-A37C-32C9DB4D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Jan 1, 2027 (expected earliest)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359EA-2C34-4B52-A2A3-8DC9755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Earliest practical pass-through effective period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95D15-C4E0-4638-9892-F6A4A7D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3FDDC-C02B-4E99-985B-39B64E9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Apr 1, 2027 permanent HCPCS target (planning assumption)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D13F0-98D5-44DD-B97A-1383AEE8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Potential product-specific HCPCS effective period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36B66-F640-4959-902D-7317CEB8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D9C37-155C-4896-B73F-20A4FD9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Planning assumptions only: verify final CMS timelines, regulatory dates, and payer implementation rules.</a:t>
            </a:r>
          </a:p>
        </p:txBody>
      </p:sp>
    </p:spTree>
    <p:extLst>
      <p:ext uri="{BB962C8B-B14F-4D97-AF65-F5344CB8AC3E}">
        <p14:creationId xmlns:p14="http://schemas.microsoft.com/office/powerpoint/2010/main" val="450700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25250-BEE6-4267-A3D2-6EB3F36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A88D0-4A2F-4F51-A8DF-7EE8814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96D77-AFC6-4E27-8CBC-1EEA062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72552-B66F-44FD-8207-222727EA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What Pass-Through Is / Does / Does Not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3CC55-8936-4857-989C-41176B1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08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B7A71-630C-4960-98D8-20CE054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BEF96-8220-45C7-9CF2-1B49047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6204E-B30C-49CD-AEDF-2FF5D9B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8DCE8-E47E-4904-B243-103FE7A8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Temporary OPPS payment pathway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2-3 years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F5C47-FE17-4A78-8525-E83B1D6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D5C46-CB83-4999-BA55-129DB0F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D03AE-2E30-40D5-8521-B4055856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Improves Medicare HOPD payment visibility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Helps budgeting and 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EB87A-147A-4E11-B5F9-E015B02A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14500"/>
            <a:ext cx="3429000" cy="4095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1264D-BCBC-4897-A067-1C93EEF0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Does Not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F82C5-426C-4453-8F9B-DE66DC4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PA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Override commercial controls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white-bagging (payer-driven)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Fix Medicaid mechanics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Remove documentation burden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06D1D-29F5-4A17-BBA4-4935679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54A1F-DDE6-4DC6-B434-8E4B202F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0260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1CC4-77A6-44F0-9952-4AC7B4C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455BC-5584-4203-916C-DC1F60AA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8924E-1BBD-4524-AE78-74C470C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79622-0F6D-4EE4-81E1-17D2B1BE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White-Bagging And Specialty Pharmacy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F9CC6-2EB8-4C86-AF5E-6E7F57D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0BEBB-AD90-4A30-B723-202AE6F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50400-FA53-46C1-A324-27770FA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66750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Provider Implication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Reduces acquisition exposure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Lowers inventory cash-risk profile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Removes drug reimbursement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May remove drug spread opportunity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Preserves administration work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Operational burden remains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Adds operational complexity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Coordination and logistics become critical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BE6AC-89DF-43C4-B562-64F31CE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ARM message: White-bagging (payer-driven) reduces inventory risk but may remove drug spread.</a:t>
            </a:r>
          </a:p>
        </p:txBody>
      </p:sp>
    </p:spTree>
    <p:extLst>
      <p:ext uri="{BB962C8B-B14F-4D97-AF65-F5344CB8AC3E}">
        <p14:creationId xmlns:p14="http://schemas.microsoft.com/office/powerpoint/2010/main" val="1495836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2C288-EC4A-4702-8480-184B4E3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1A87-68A1-4903-A327-DB12286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F708A-2257-449C-B102-A006501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A8B39-C85E-4C15-A27D-438AD89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Medicaid and Pediatric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5FC50-ECC8-4D2C-90D8-ED3AD74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10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F17A8-CD54-4CAE-86AE-FFAA997D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1B649-8457-4514-AB7F-CE18C26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Coverage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B13CC-0DBA-49A8-BE24-A1B5BA4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Payment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B5E18-C938-4177-A3A0-24A16C35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0EC9A-4337-458B-9C59-6ACE6FE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5C011-D3FB-4103-B42A-4448BE6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EPSDT is important for pediatric coverage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Not a national reimbursement formula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6208A-7C1E-4C47-9A37-9CC756B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1333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State payment varies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NDC may be required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Managed care differs from FFS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340B carve-in/carve-out matters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Duplicate discount controls matter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9FE02-1220-46F0-88B8-B1D9D18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Medicaid may support medical necessity, but reimbursement is still operationally complex.</a:t>
            </a:r>
          </a:p>
        </p:txBody>
      </p:sp>
    </p:spTree>
    <p:extLst>
      <p:ext uri="{BB962C8B-B14F-4D97-AF65-F5344CB8AC3E}">
        <p14:creationId xmlns:p14="http://schemas.microsoft.com/office/powerpoint/2010/main" val="203335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70575-B4D3-41FC-A152-D3F7101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4F30F-FBA4-4617-BC44-C57F6DB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82229-0DDA-4216-9089-8071251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5E791-3DDD-4D8A-8E6A-C89C3A2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Calculator: What It Is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B78E2-4EBD-484F-B6DC-A20539C1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61CD4-C69C-40A1-90BF-F3B1BCEB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FC73B-3864-4E87-8332-C594CB1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66750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Acquisition exposure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Shows working-capital and inventory burden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Reimbursement benchmark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Frames gross recovery potential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Operating cost impact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Captures non-drug margin pressure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66750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Denial/payment timing sensitivity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Surfaces fragility drivers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507F8-CFCB-4D2D-A95C-A3D13366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Calculator is a conversation tool, not a payment guarantee.</a:t>
            </a:r>
          </a:p>
        </p:txBody>
      </p:sp>
    </p:spTree>
    <p:extLst>
      <p:ext uri="{BB962C8B-B14F-4D97-AF65-F5344CB8AC3E}">
        <p14:creationId xmlns:p14="http://schemas.microsoft.com/office/powerpoint/2010/main" val="217805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9D54A-0F88-4DBE-82E6-CEEEDBE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12D2F-9BD2-467C-9727-FA0EE1E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F6B4-ACA7-4194-8A67-200E9D0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F4C94-5256-4E8E-B032-F55CBCC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ARM Objection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C8378-480C-488A-81C6-C006EEB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B5A40-9488-40CD-B0BB-022F979C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EB6A7-3BD6-49CC-8876-4802D09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80357"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Objection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 spcFirstLastPara="1"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200" b="1"/>
                        <a:t>Response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8035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EAP should make launch easy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EAP supports access, commercial billing still requires full operations.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8035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If covered, why model economics?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Coverage does not ensure sustainable margin or cash flow.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  <a:tr h="68035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Pass-through solves it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Pass-through helps visibility, it does not remove payer controls.</a:t>
                      </a:r>
                    </a:p>
                  </a:txBody>
                  <a:tcPr marL="91440" marR="91440" marT="45720" marB="45720">
                    <a:solidFill>
                      <a:srgbClr val="F0FDFA"/>
                    </a:solidFill>
                  </a:tcPr>
                </a:tc>
              </a:tr>
              <a:tr h="680357"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means profitability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  <a:tc>
                  <a:txBody>
                    <a:bodyPr lIns="38100" tIns="19050" rIns="38100" bIns="19050" anchor="t"/>
                    <a:lstStyle/>
                    <a:p>
                      <a:pPr algn="l">
                        <a:buNone/>
                      </a:pPr>
                      <a:r>
                        <a:rPr sz="1050" b="0"/>
                        <a:t>340B can improve spread, outcomes still depend on operations.</a:t>
                      </a:r>
                    </a:p>
                  </a:txBody>
                  <a:tcPr marL="91440" marR="91440" marT="45720" marB="45720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88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0E41-F6A3-437D-9141-2495E86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88937-D846-47B9-BA2F-8FFEB27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12149-A19E-43ED-A3D0-8AB8267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72A77-1F06-4789-A643-DA77FE9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48A82-367E-41FD-92B4-A6D3BFF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916F6-2207-4B97-8654-C148A07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B379C-6FAE-45F7-BDA9-2C1B8A2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668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1. Adoption depends on provider economics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2. EAP ≠ commercial launch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3. HCPCS and pass-through are separate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4. Interim coding matters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5. 340B is major economics lever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6. White-bagging (payer-driven) changes economics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7. Medicaid must be evaluated separately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8. Calculator should show scenario-specific value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9. Site-specific practicality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8786E-52B7-466A-9790-BA9E91C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A1C5D-90B8-4E52-94B9-52C64C8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221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7B697-E833-495E-856B-DE29BEE8F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61528-4741-4174-B3F1-4C45C3C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CC22E-485B-42B5-AFC9-93EBFC1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2E0C5-14CB-45D2-A1CA-651B4EFD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BBB90-6436-439B-B2BB-C0A97BE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937"/>
                </a:solidFill>
              </a:defRPr>
            </a:pPr>
            <a:r>
              <a:rPr sz="3300" b="1">
                <a:solidFill>
                  <a:srgbClr val="1F2937"/>
                </a:solidFill>
              </a:rPr>
              <a:t>One-Page ARM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FE740-74ED-4985-99D8-8317A588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38100" tIns="19050" rIns="1143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F766E"/>
                </a:solidFill>
              </a:defRPr>
            </a:pPr>
            <a:r>
              <a:rPr sz="825" b="0">
                <a:solidFill>
                  <a:srgbClr val="0F766E"/>
                </a:solidFill>
              </a:rPr>
              <a:t>14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96501-6C9D-4D3F-97E7-9CAF73C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BC854-C31D-44D9-82C8-3F26E4B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9F9BC-49E6-48C9-A26E-569693B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The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5AA26-4488-46AC-8A8B-BBA8CD1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Provider economics determines sustainable administration.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29E1A-8BBE-4A0E-B820-A5489F9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16B58-FE8C-409B-ABD2-6DD2B97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numbers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94CB0-025C-491A-A8CB-8D7D278B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$39,000 WAC | q2w dosing | 26 annual administrations | $1,014,000 annual 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7198-02B0-4FEF-B3D0-AB12783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FCE49-F7FF-4CD8-827A-825A391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launch reality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57F50-9E44-4DE6-8EE0-BF05156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EAP familiarity does not equal commercial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3CD14-21FD-4DA1-86CC-0E0DEDA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1E1B7-2121-45C9-AC0E-8B60CD49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0">
                <a:solidFill>
                  <a:srgbClr val="0F766E"/>
                </a:solidFill>
              </a:rPr>
              <a:t>The provider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39BC0-D741-48F0-A20C-6561F94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Can the site deliver without recurring loss or unacceptable cash burden?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DB596-B480-4391-BAE0-FE664A4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42A96-17DA-4E49-A942-D5F15299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The ARM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37C93-8EBA-4C62-9EEA-AD66656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197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lIns="95250" tIns="38100" rIns="952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Use scenario-specific economics and operational facts, not coverage-only framing.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F2C37-ED59-46BA-9372-09480EB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7429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95250" tIns="38100" rIns="95250" bIns="38100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20C74-1C50-4982-A9C0-759751E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28691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2026-04-23T01:15:44.0930000Z</dcterms:created>
  <dcterms:modified xsi:type="dcterms:W3CDTF">2026-04-23T01:15:44.0930000Z</dcterms:modified>
</coreProperties>
</file>