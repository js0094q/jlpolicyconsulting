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0fb5f1e699493e" /><Relationship Type="http://schemas.openxmlformats.org/officeDocument/2006/relationships/extended-properties" Target="/docProps/app.xml" Id="R626c6d7d40524d82" /><Relationship Type="http://schemas.openxmlformats.org/officeDocument/2006/relationships/officeDocument" Target="/ppt/presentation.xml" Id="R9d394aa8c6374a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3b8a07667c483a"/>
  </p:sldMasterIdLst>
  <p:notesMasterIdLst>
    <p:notesMasterId xmlns:r="http://schemas.openxmlformats.org/officeDocument/2006/relationships" r:id="Rde500c33f170492f"/>
  </p:notesMasterIdLst>
  <p:sldIdLst>
    <p:sldId xmlns:r="http://schemas.openxmlformats.org/officeDocument/2006/relationships" id="256" r:id="R5c08c9d813f54947"/>
    <p:sldId xmlns:r="http://schemas.openxmlformats.org/officeDocument/2006/relationships" id="257" r:id="Rdb794342e12542c1"/>
    <p:sldId xmlns:r="http://schemas.openxmlformats.org/officeDocument/2006/relationships" id="258" r:id="Rcadf740c47f144a6"/>
    <p:sldId xmlns:r="http://schemas.openxmlformats.org/officeDocument/2006/relationships" id="259" r:id="R6db983b3c5f94e26"/>
    <p:sldId xmlns:r="http://schemas.openxmlformats.org/officeDocument/2006/relationships" id="260" r:id="R1dc4a537954f40cd"/>
    <p:sldId xmlns:r="http://schemas.openxmlformats.org/officeDocument/2006/relationships" id="261" r:id="R3abd3ba304bc4be5"/>
    <p:sldId xmlns:r="http://schemas.openxmlformats.org/officeDocument/2006/relationships" id="262" r:id="R65cc09d8a15145a4"/>
    <p:sldId xmlns:r="http://schemas.openxmlformats.org/officeDocument/2006/relationships" id="263" r:id="R20dd6582d7974853"/>
    <p:sldId xmlns:r="http://schemas.openxmlformats.org/officeDocument/2006/relationships" id="264" r:id="R9a85a1245b4649d0"/>
    <p:sldId xmlns:r="http://schemas.openxmlformats.org/officeDocument/2006/relationships" id="265" r:id="Rb0c309539d364661"/>
    <p:sldId xmlns:r="http://schemas.openxmlformats.org/officeDocument/2006/relationships" id="266" r:id="R7fe9de20ec8d41ee"/>
    <p:sldId xmlns:r="http://schemas.openxmlformats.org/officeDocument/2006/relationships" id="267" r:id="R0a4ff9cbdbf246da"/>
    <p:sldId xmlns:r="http://schemas.openxmlformats.org/officeDocument/2006/relationships" id="268" r:id="R2407b58911e44903"/>
    <p:sldId xmlns:r="http://schemas.openxmlformats.org/officeDocument/2006/relationships" id="269" r:id="R5ad7f9b1902a4a90"/>
    <p:sldId xmlns:r="http://schemas.openxmlformats.org/officeDocument/2006/relationships" id="270" r:id="Rd72ffb93a91c45fe"/>
    <p:sldId xmlns:r="http://schemas.openxmlformats.org/officeDocument/2006/relationships" id="271" r:id="R5b29e0b9a84f4aa0"/>
    <p:sldId xmlns:r="http://schemas.openxmlformats.org/officeDocument/2006/relationships" id="272" r:id="Rb3c87326a26c4980"/>
    <p:sldId xmlns:r="http://schemas.openxmlformats.org/officeDocument/2006/relationships" id="273" r:id="Rcc8d998a256e4d4c"/>
    <p:sldId xmlns:r="http://schemas.openxmlformats.org/officeDocument/2006/relationships" id="274" r:id="R7b56db128bc44173"/>
    <p:sldId xmlns:r="http://schemas.openxmlformats.org/officeDocument/2006/relationships" id="275" r:id="R29c3b142b2d341a0"/>
    <p:sldId xmlns:r="http://schemas.openxmlformats.org/officeDocument/2006/relationships" id="276" r:id="R3c4d983441f44547"/>
    <p:sldId xmlns:r="http://schemas.openxmlformats.org/officeDocument/2006/relationships" id="277" r:id="R8e2e356d4d204cb0"/>
    <p:sldId xmlns:r="http://schemas.openxmlformats.org/officeDocument/2006/relationships" id="278" r:id="Re4e219731b064f3c"/>
    <p:sldId xmlns:r="http://schemas.openxmlformats.org/officeDocument/2006/relationships" id="279" r:id="R3bfce5d3393f4a87"/>
    <p:sldId xmlns:r="http://schemas.openxmlformats.org/officeDocument/2006/relationships" id="280" r:id="Rffedccde511049dc"/>
    <p:sldId xmlns:r="http://schemas.openxmlformats.org/officeDocument/2006/relationships" id="281" r:id="R27e839c7e1e0496d"/>
    <p:sldId xmlns:r="http://schemas.openxmlformats.org/officeDocument/2006/relationships" id="282" r:id="R51cba9a49c2e45dd"/>
    <p:sldId xmlns:r="http://schemas.openxmlformats.org/officeDocument/2006/relationships" id="283" r:id="R01b70c8507a049b3"/>
    <p:sldId xmlns:r="http://schemas.openxmlformats.org/officeDocument/2006/relationships" id="284" r:id="Rf35d936e390f4cf3"/>
    <p:sldId xmlns:r="http://schemas.openxmlformats.org/officeDocument/2006/relationships" id="285" r:id="R910a540fc8724b60"/>
    <p:sldId xmlns:r="http://schemas.openxmlformats.org/officeDocument/2006/relationships" id="286" r:id="R499a7fd1135f4df4"/>
    <p:sldId xmlns:r="http://schemas.openxmlformats.org/officeDocument/2006/relationships" id="287" r:id="R1b4a400b22ad401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3b8a07667c483a" /><Relationship Type="http://schemas.openxmlformats.org/officeDocument/2006/relationships/theme" Target="/ppt/theme/theme1.xml" Id="Ra9d2605388d44347" /><Relationship Type="http://schemas.openxmlformats.org/officeDocument/2006/relationships/notesMaster" Target="/ppt/notesMasters/notesMaster1.xml" Id="Rde500c33f170492f" /><Relationship Type="http://schemas.openxmlformats.org/officeDocument/2006/relationships/presProps" Target="/ppt/presProps.xml" Id="R7bd70fbbb6dd4d2a" /><Relationship Type="http://schemas.openxmlformats.org/officeDocument/2006/relationships/viewProps" Target="/ppt/viewProps.xml" Id="R1e1ef2e4ebe24de7" /><Relationship Type="http://schemas.openxmlformats.org/officeDocument/2006/relationships/tableStyles" Target="/ppt/tableStyles.xml" Id="Rc70cbc6667574fdd" /><Relationship Type="http://schemas.openxmlformats.org/officeDocument/2006/relationships/slide" Target="/ppt/slides/slide1.xml" Id="R5c08c9d813f54947" /><Relationship Type="http://schemas.openxmlformats.org/officeDocument/2006/relationships/slide" Target="/ppt/slides/slide2.xml" Id="Rdb794342e12542c1" /><Relationship Type="http://schemas.openxmlformats.org/officeDocument/2006/relationships/slide" Target="/ppt/slides/slide3.xml" Id="Rcadf740c47f144a6" /><Relationship Type="http://schemas.openxmlformats.org/officeDocument/2006/relationships/slide" Target="/ppt/slides/slide4.xml" Id="R6db983b3c5f94e26" /><Relationship Type="http://schemas.openxmlformats.org/officeDocument/2006/relationships/slide" Target="/ppt/slides/slide5.xml" Id="R1dc4a537954f40cd" /><Relationship Type="http://schemas.openxmlformats.org/officeDocument/2006/relationships/slide" Target="/ppt/slides/slide6.xml" Id="R3abd3ba304bc4be5" /><Relationship Type="http://schemas.openxmlformats.org/officeDocument/2006/relationships/slide" Target="/ppt/slides/slide7.xml" Id="R65cc09d8a15145a4" /><Relationship Type="http://schemas.openxmlformats.org/officeDocument/2006/relationships/slide" Target="/ppt/slides/slide8.xml" Id="R20dd6582d7974853" /><Relationship Type="http://schemas.openxmlformats.org/officeDocument/2006/relationships/slide" Target="/ppt/slides/slide9.xml" Id="R9a85a1245b4649d0" /><Relationship Type="http://schemas.openxmlformats.org/officeDocument/2006/relationships/slide" Target="/ppt/slides/slide10.xml" Id="Rb0c309539d364661" /><Relationship Type="http://schemas.openxmlformats.org/officeDocument/2006/relationships/slide" Target="/ppt/slides/slide11.xml" Id="R7fe9de20ec8d41ee" /><Relationship Type="http://schemas.openxmlformats.org/officeDocument/2006/relationships/slide" Target="/ppt/slides/slide12.xml" Id="R0a4ff9cbdbf246da" /><Relationship Type="http://schemas.openxmlformats.org/officeDocument/2006/relationships/slide" Target="/ppt/slides/slide13.xml" Id="R2407b58911e44903" /><Relationship Type="http://schemas.openxmlformats.org/officeDocument/2006/relationships/slide" Target="/ppt/slides/slide14.xml" Id="R5ad7f9b1902a4a90" /><Relationship Type="http://schemas.openxmlformats.org/officeDocument/2006/relationships/slide" Target="/ppt/slides/slide15.xml" Id="Rd72ffb93a91c45fe" /><Relationship Type="http://schemas.openxmlformats.org/officeDocument/2006/relationships/slide" Target="/ppt/slides/slide16.xml" Id="R5b29e0b9a84f4aa0" /><Relationship Type="http://schemas.openxmlformats.org/officeDocument/2006/relationships/slide" Target="/ppt/slides/slide17.xml" Id="Rb3c87326a26c4980" /><Relationship Type="http://schemas.openxmlformats.org/officeDocument/2006/relationships/slide" Target="/ppt/slides/slide18.xml" Id="Rcc8d998a256e4d4c" /><Relationship Type="http://schemas.openxmlformats.org/officeDocument/2006/relationships/slide" Target="/ppt/slides/slide19.xml" Id="R7b56db128bc44173" /><Relationship Type="http://schemas.openxmlformats.org/officeDocument/2006/relationships/slide" Target="/ppt/slides/slide20.xml" Id="R29c3b142b2d341a0" /><Relationship Type="http://schemas.openxmlformats.org/officeDocument/2006/relationships/slide" Target="/ppt/slides/slide21.xml" Id="R3c4d983441f44547" /><Relationship Type="http://schemas.openxmlformats.org/officeDocument/2006/relationships/slide" Target="/ppt/slides/slide22.xml" Id="R8e2e356d4d204cb0" /><Relationship Type="http://schemas.openxmlformats.org/officeDocument/2006/relationships/slide" Target="/ppt/slides/slide23.xml" Id="Re4e219731b064f3c" /><Relationship Type="http://schemas.openxmlformats.org/officeDocument/2006/relationships/slide" Target="/ppt/slides/slide24.xml" Id="R3bfce5d3393f4a87" /><Relationship Type="http://schemas.openxmlformats.org/officeDocument/2006/relationships/slide" Target="/ppt/slides/slide25.xml" Id="Rffedccde511049dc" /><Relationship Type="http://schemas.openxmlformats.org/officeDocument/2006/relationships/slide" Target="/ppt/slides/slide26.xml" Id="R27e839c7e1e0496d" /><Relationship Type="http://schemas.openxmlformats.org/officeDocument/2006/relationships/slide" Target="/ppt/slides/slide27.xml" Id="R51cba9a49c2e45dd" /><Relationship Type="http://schemas.openxmlformats.org/officeDocument/2006/relationships/slide" Target="/ppt/slides/slide28.xml" Id="R01b70c8507a049b3" /><Relationship Type="http://schemas.openxmlformats.org/officeDocument/2006/relationships/slide" Target="/ppt/slides/slide29.xml" Id="Rf35d936e390f4cf3" /><Relationship Type="http://schemas.openxmlformats.org/officeDocument/2006/relationships/slide" Target="/ppt/slides/slide30.xml" Id="R910a540fc8724b60" /><Relationship Type="http://schemas.openxmlformats.org/officeDocument/2006/relationships/slide" Target="/ppt/slides/slide31.xml" Id="R499a7fd1135f4df4" /><Relationship Type="http://schemas.openxmlformats.org/officeDocument/2006/relationships/slide" Target="/ppt/slides/slide32.xml" Id="R1b4a400b22ad40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d138d7658624c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e6cd2516fa42fd" /><Relationship Type="http://schemas.openxmlformats.org/officeDocument/2006/relationships/notesMaster" Target="/ppt/notesMasters/notesMaster1.xml" Id="R7da17d629b4d46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85255c6481406c" /><Relationship Type="http://schemas.openxmlformats.org/officeDocument/2006/relationships/notesMaster" Target="/ppt/notesMasters/notesMaster1.xml" Id="R624a1e55f5d847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5b3be2e96a444c" /><Relationship Type="http://schemas.openxmlformats.org/officeDocument/2006/relationships/notesMaster" Target="/ppt/notesMasters/notesMaster1.xml" Id="R7689ef77af5f45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f8c6f973674568" /><Relationship Type="http://schemas.openxmlformats.org/officeDocument/2006/relationships/notesMaster" Target="/ppt/notesMasters/notesMaster1.xml" Id="Rfd07529c6f814a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435a6a227c4cb5" /><Relationship Type="http://schemas.openxmlformats.org/officeDocument/2006/relationships/notesMaster" Target="/ppt/notesMasters/notesMaster1.xml" Id="R2711d2e14cd643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fc75764b5847d4" /><Relationship Type="http://schemas.openxmlformats.org/officeDocument/2006/relationships/notesMaster" Target="/ppt/notesMasters/notesMaster1.xml" Id="Rf412f3cfd46648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f146d054fc489b" /><Relationship Type="http://schemas.openxmlformats.org/officeDocument/2006/relationships/notesMaster" Target="/ppt/notesMasters/notesMaster1.xml" Id="R779458be04f244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738dd848284b24" /><Relationship Type="http://schemas.openxmlformats.org/officeDocument/2006/relationships/notesMaster" Target="/ppt/notesMasters/notesMaster1.xml" Id="Rf6794c04204341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0f37ba7ec44bad" /><Relationship Type="http://schemas.openxmlformats.org/officeDocument/2006/relationships/notesMaster" Target="/ppt/notesMasters/notesMaster1.xml" Id="R152522a9363c4f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c59200a22c496c" /><Relationship Type="http://schemas.openxmlformats.org/officeDocument/2006/relationships/notesMaster" Target="/ppt/notesMasters/notesMaster1.xml" Id="Rfbad4d63f6d941b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4a4fd9f0f64780" /><Relationship Type="http://schemas.openxmlformats.org/officeDocument/2006/relationships/notesMaster" Target="/ppt/notesMasters/notesMaster1.xml" Id="R18b2497523d44a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f3f7917db342c1" /><Relationship Type="http://schemas.openxmlformats.org/officeDocument/2006/relationships/notesMaster" Target="/ppt/notesMasters/notesMaster1.xml" Id="Ra0f31e4f9b82434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e3fbfb1776e47e9" /><Relationship Type="http://schemas.openxmlformats.org/officeDocument/2006/relationships/notesMaster" Target="/ppt/notesMasters/notesMaster1.xml" Id="Ra2216e8c3c9441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fbb47f77eb84103" /><Relationship Type="http://schemas.openxmlformats.org/officeDocument/2006/relationships/notesMaster" Target="/ppt/notesMasters/notesMaster1.xml" Id="R33377e1acd6d4ff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49d7dcd1bf649da" /><Relationship Type="http://schemas.openxmlformats.org/officeDocument/2006/relationships/notesMaster" Target="/ppt/notesMasters/notesMaster1.xml" Id="R4788cf41a7464ec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24a13fb49374fa0" /><Relationship Type="http://schemas.openxmlformats.org/officeDocument/2006/relationships/notesMaster" Target="/ppt/notesMasters/notesMaster1.xml" Id="R5e1c1e122818483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ca9e9b0d4eb4291" /><Relationship Type="http://schemas.openxmlformats.org/officeDocument/2006/relationships/notesMaster" Target="/ppt/notesMasters/notesMaster1.xml" Id="R9a4c5ea522064d7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8a2b76e52c945a1" /><Relationship Type="http://schemas.openxmlformats.org/officeDocument/2006/relationships/notesMaster" Target="/ppt/notesMasters/notesMaster1.xml" Id="R6364aaaf81d8425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26be936aba44031" /><Relationship Type="http://schemas.openxmlformats.org/officeDocument/2006/relationships/notesMaster" Target="/ppt/notesMasters/notesMaster1.xml" Id="R23bb2689fd4843e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15da3587ae44edd" /><Relationship Type="http://schemas.openxmlformats.org/officeDocument/2006/relationships/notesMaster" Target="/ppt/notesMasters/notesMaster1.xml" Id="Re3e15818687b43a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771b070a73b4292" /><Relationship Type="http://schemas.openxmlformats.org/officeDocument/2006/relationships/notesMaster" Target="/ppt/notesMasters/notesMaster1.xml" Id="R73aad8bc345a4b6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33eca6412914555" /><Relationship Type="http://schemas.openxmlformats.org/officeDocument/2006/relationships/notesMaster" Target="/ppt/notesMasters/notesMaster1.xml" Id="R9fadc785b6df4dc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9cbc913731d405f" /><Relationship Type="http://schemas.openxmlformats.org/officeDocument/2006/relationships/notesMaster" Target="/ppt/notesMasters/notesMaster1.xml" Id="R0e38c7573b8d4c3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ecf2ef67b404340" /><Relationship Type="http://schemas.openxmlformats.org/officeDocument/2006/relationships/notesMaster" Target="/ppt/notesMasters/notesMaster1.xml" Id="R0477aa936ebf469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2a2b6ad75854300" /><Relationship Type="http://schemas.openxmlformats.org/officeDocument/2006/relationships/notesMaster" Target="/ppt/notesMasters/notesMaster1.xml" Id="Rd8817ba2878547b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4a890fd73374834" /><Relationship Type="http://schemas.openxmlformats.org/officeDocument/2006/relationships/notesMaster" Target="/ppt/notesMasters/notesMaster1.xml" Id="Red5aa15b93bb4ac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75c5a0c47e84583" /><Relationship Type="http://schemas.openxmlformats.org/officeDocument/2006/relationships/notesMaster" Target="/ppt/notesMasters/notesMaster1.xml" Id="R02cd34c779e945e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3798630725f42e5" /><Relationship Type="http://schemas.openxmlformats.org/officeDocument/2006/relationships/notesMaster" Target="/ppt/notesMasters/notesMaster1.xml" Id="R8f76e314aa064f4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40c143c17c94370" /><Relationship Type="http://schemas.openxmlformats.org/officeDocument/2006/relationships/notesMaster" Target="/ppt/notesMasters/notesMaster1.xml" Id="R539678b8f593480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8893104ec9d4bb8" /><Relationship Type="http://schemas.openxmlformats.org/officeDocument/2006/relationships/notesMaster" Target="/ppt/notesMasters/notesMaster1.xml" Id="R2dbb777bf636404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f8cdcaf974b4909" /><Relationship Type="http://schemas.openxmlformats.org/officeDocument/2006/relationships/notesMaster" Target="/ppt/notesMasters/notesMaster1.xml" Id="R7b22c68adb6d4ac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af14d309dd542a4" /><Relationship Type="http://schemas.openxmlformats.org/officeDocument/2006/relationships/notesMaster" Target="/ppt/notesMasters/notesMaster1.xml" Id="R5f28571ee3bf4f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This deck is a planning-oriented ARM training guide linking coding, payment, and provider economics for launch readiness.</a:t>
            </a:r>
          </a:p>
          <a:p xmlns:a="http://schemas.openxmlformats.org/drawingml/2006/main"/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present any reimbursement or coverage result as guaranteed.</a:t>
            </a:r>
          </a:p>
          <a:p xmlns:a="http://schemas.openxmlformats.org/drawingml/2006/main"/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What is the practical objective of this ARM discussion?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Coverage is necessary but provider economics drive whether access is operationally sustainable at launch.</a:t>
            </a:r>
          </a:p>
          <a:p xmlns:a="http://schemas.openxmlformats.org/drawingml/2006/main"/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imply economics alone determines clinical adoption.</a:t>
            </a:r>
          </a:p>
          <a:p xmlns:a="http://schemas.openxmlformats.org/drawingml/2006/main"/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Why should we discuss economics early instead of after claim denials?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Anchor on planning assumptions: WAC 39000, q2w dosing, 26 annual administrations, annual gross WAC 1014000.</a:t>
            </a:r>
          </a:p>
          <a:p xmlns:a="http://schemas.openxmlformats.org/drawingml/2006/main"/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present these figures as contracted net price or guaranteed reimbursement.</a:t>
            </a:r>
          </a:p>
          <a:p xmlns:a="http://schemas.openxmlformats.org/drawingml/2006/main"/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What launch economics baseline should finance and pharmacy teams model?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Use these figures as planning assumptions and validate payer-specific terms before operational decisions.</a:t>
            </a:r>
          </a:p>
          <a:p xmlns:a="http://schemas.openxmlformats.org/drawingml/2006/main"/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claim a single benchmark applies uniformly across all plans and sites.</a:t>
            </a:r>
          </a:p>
          <a:p xmlns:a="http://schemas.openxmlformats.org/drawingml/2006/main"/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Which numbers should we align on before implementation planning?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- 340B COE is the default planning scenario; non-340B should be framed as sensitivity/exception analysis.</a:t>
            </a:r>
          </a:p>
          <a:p xmlns:a="http://schemas.openxmlformats.org/drawingml/2006/main"/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imply 340B economics are identical across entities or contracts.</a:t>
            </a:r>
          </a:p>
          <a:p xmlns:a="http://schemas.openxmlformats.org/drawingml/2006/main"/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How does 340B status change spread and affordability planning?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The interaction of 340B acquisition, pass-through timing, and HCPCS status drives early economics and should be modeled together.</a:t>
            </a:r>
          </a:p>
          <a:p xmlns:a="http://schemas.openxmlformats.org/drawingml/2006/main"/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state pass-through or code timing as guaranteed outcomes.</a:t>
            </a:r>
          </a:p>
          <a:p xmlns:a="http://schemas.openxmlformats.org/drawingml/2006/main"/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How do these policy elements interact in the first year?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Keep the discussion on The 4 Provider Questions practical, planning-oriented, and tied to payer-specific verification steps.</a:t>
            </a:r>
          </a:p>
          <a:p xmlns:a="http://schemas.openxmlformats.org/drawingml/2006/main"/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represent assumptions or timelines as guaranteed outcomes.</a:t>
            </a:r>
          </a:p>
          <a:p xmlns:a="http://schemas.openxmlformats.org/drawingml/2006/main"/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What decision or clarification should this slide provide to the provider team?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EAP access may support continuity but does not replace coding, billing, and contract readiness for launch.</a:t>
            </a:r>
          </a:p>
          <a:p xmlns:a="http://schemas.openxmlformats.org/drawingml/2006/main"/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characterize EAP experience as proof of commercial reimbursement readiness.</a:t>
            </a:r>
          </a:p>
          <a:p xmlns:a="http://schemas.openxmlformats.org/drawingml/2006/main"/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Why is EAP experience insufficient for ongoing site economics?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Commercial controls are payer-specific and can include prior auth, step edits, and distribution requirements.</a:t>
            </a:r>
          </a:p>
          <a:p xmlns:a="http://schemas.openxmlformats.org/drawingml/2006/main"/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treat all payers as having the same policy path.</a:t>
            </a:r>
          </a:p>
          <a:p xmlns:a="http://schemas.openxmlformats.org/drawingml/2006/main"/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What access controls could alter treatment operations at launch?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Keep the discussion on The Core Provider Economics Problem practical, planning-oriented, and tied to payer-specific verification steps.</a:t>
            </a:r>
          </a:p>
          <a:p xmlns:a="http://schemas.openxmlformats.org/drawingml/2006/main"/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represent assumptions or timelines as guaranteed outcomes.</a:t>
            </a:r>
          </a:p>
          <a:p xmlns:a="http://schemas.openxmlformats.org/drawingml/2006/main"/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What decision or clarification should this slide provide to the provider team?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Keep the discussion on Timing Roadmap (Planning Assumptions) practical, planning-oriented, and tied to payer-specific verification steps.</a:t>
            </a:r>
          </a:p>
          <a:p xmlns:a="http://schemas.openxmlformats.org/drawingml/2006/main"/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represent assumptions or timelines as guaranteed outcomes.</a:t>
            </a:r>
          </a:p>
          <a:p xmlns:a="http://schemas.openxmlformats.org/drawingml/2006/main"/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What decision or clarification should this slide provide to the provider team?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Keep the discussion on Coding and Pass-Through Are Separate practical, planning-oriented, and tied to payer-specific verification steps.</a:t>
            </a:r>
          </a:p>
          <a:p xmlns:a="http://schemas.openxmlformats.org/drawingml/2006/main"/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represent assumptions or timelines as guaranteed outcomes.</a:t>
            </a:r>
          </a:p>
          <a:p xmlns:a="http://schemas.openxmlformats.org/drawingml/2006/main"/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What decision or clarification should this slide provide to the provider team?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Keep the discussion on Interim Coding Before Product-Specific HCPCS practical, planning-oriented, and tied to payer-specific verification steps.</a:t>
            </a:r>
          </a:p>
          <a:p xmlns:a="http://schemas.openxmlformats.org/drawingml/2006/main"/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represent assumptions or timelines as guaranteed outcomes.</a:t>
            </a:r>
          </a:p>
          <a:p xmlns:a="http://schemas.openxmlformats.org/drawingml/2006/main"/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What decision or clarification should this slide provide to the provider team?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Pass-through can improve payment visibility but does not replace payer policy management or site operations planning.</a:t>
            </a:r>
          </a:p>
          <a:p xmlns:a="http://schemas.openxmlformats.org/drawingml/2006/main"/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imply pass-through guarantees favorable net economics.</a:t>
            </a:r>
          </a:p>
          <a:p xmlns:a="http://schemas.openxmlformats.org/drawingml/2006/main"/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What changes operationally if pass-through is granted?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White-bagging is a payer-driven toggle that can materially change provider economics and workflows.</a:t>
            </a:r>
          </a:p>
          <a:p xmlns:a="http://schemas.openxmlformats.org/drawingml/2006/main"/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describe white-bagging as a provider-controlled decision in most plans.</a:t>
            </a:r>
          </a:p>
          <a:p xmlns:a="http://schemas.openxmlformats.org/drawingml/2006/main"/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How could payer distribution controls alter site economics?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Keep the discussion on White-Bagging Discussion Guide practical, planning-oriented, and tied to payer-specific verification steps.</a:t>
            </a:r>
          </a:p>
          <a:p xmlns:a="http://schemas.openxmlformats.org/drawingml/2006/main"/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represent assumptions or timelines as guaranteed outcomes.</a:t>
            </a:r>
          </a:p>
          <a:p xmlns:a="http://schemas.openxmlformats.org/drawingml/2006/main"/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What decision or clarification should this slide provide to the provider team?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Medicaid pathways can differ by state and pediatric policy context, so planning should remain state- and payer-specific.</a:t>
            </a:r>
          </a:p>
          <a:p xmlns:a="http://schemas.openxmlformats.org/drawingml/2006/main"/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generalize one state policy to all Medicaid programs.</a:t>
            </a:r>
          </a:p>
          <a:p xmlns:a="http://schemas.openxmlformats.org/drawingml/2006/main"/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How should pediatric and Medicaid variability be framed in launch planning?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Keep the discussion on Medicaid ARM Discussion Frame practical, planning-oriented, and tied to payer-specific verification steps.</a:t>
            </a:r>
          </a:p>
          <a:p xmlns:a="http://schemas.openxmlformats.org/drawingml/2006/main"/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represent assumptions or timelines as guaranteed outcomes.</a:t>
            </a:r>
          </a:p>
          <a:p xmlns:a="http://schemas.openxmlformats.org/drawingml/2006/main"/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What decision or clarification should this slide provide to the provider team?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Keep the discussion on Treatment Environment practical, planning-oriented, and tied to payer-specific verification steps.</a:t>
            </a:r>
          </a:p>
          <a:p xmlns:a="http://schemas.openxmlformats.org/drawingml/2006/main"/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represent assumptions or timelines as guaranteed outcomes.</a:t>
            </a:r>
          </a:p>
          <a:p xmlns:a="http://schemas.openxmlformats.org/drawingml/2006/main"/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What decision or clarification should this slide provide to the provider team?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Keep the discussion on Provider-Facing Value Story practical, planning-oriented, and tied to payer-specific verification steps.</a:t>
            </a:r>
          </a:p>
          <a:p xmlns:a="http://schemas.openxmlformats.org/drawingml/2006/main"/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represent assumptions or timelines as guaranteed outcomes.</a:t>
            </a:r>
          </a:p>
          <a:p xmlns:a="http://schemas.openxmlformats.org/drawingml/2006/main"/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What decision or clarification should this slide provide to the provider team?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The calculator is a structured conversation tool to test assumptions and compare site-level economic scenarios.</a:t>
            </a:r>
          </a:p>
          <a:p xmlns:a="http://schemas.openxmlformats.org/drawingml/2006/main"/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frame output as a guaranteed forecast of realized margin.</a:t>
            </a:r>
          </a:p>
          <a:p xmlns:a="http://schemas.openxmlformats.org/drawingml/2006/main"/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How do we apply assumptions consistently during provider discussions?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Review outputs as directional ranges and compare 340B default versus non-340B sensitivity where relevant.</a:t>
            </a:r>
          </a:p>
          <a:p xmlns:a="http://schemas.openxmlformats.org/drawingml/2006/main"/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present one scenario as universally representative.</a:t>
            </a:r>
          </a:p>
          <a:p xmlns:a="http://schemas.openxmlformats.org/drawingml/2006/main"/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Which outputs are most useful in reimbursement planning conversations?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Handle objections by anchoring to verified policy mechanics, planning assumptions, and site-specific constraints.</a:t>
            </a:r>
          </a:p>
          <a:p xmlns:a="http://schemas.openxmlformats.org/drawingml/2006/main"/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counter objections with guaranteed outcomes.</a:t>
            </a:r>
          </a:p>
          <a:p xmlns:a="http://schemas.openxmlformats.org/drawingml/2006/main"/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How should ARMs respond when providers challenge feasibility at launch?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Keep the discussion on ARM Conversation Flow practical, planning-oriented, and tied to payer-specific verification steps.</a:t>
            </a:r>
          </a:p>
          <a:p xmlns:a="http://schemas.openxmlformats.org/drawingml/2006/main"/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represent assumptions or timelines as guaranteed outcomes.</a:t>
            </a:r>
          </a:p>
          <a:p xmlns:a="http://schemas.openxmlformats.org/drawingml/2006/main"/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What decision or clarification should this slide provide to the provider team?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Keep the discussion on Do / Do Not Say practical, planning-oriented, and tied to payer-specific verification steps.</a:t>
            </a:r>
          </a:p>
          <a:p xmlns:a="http://schemas.openxmlformats.org/drawingml/2006/main"/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represent assumptions or timelines as guaranteed outcomes.</a:t>
            </a:r>
          </a:p>
          <a:p xmlns:a="http://schemas.openxmlformats.org/drawingml/2006/main"/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What decision or clarification should this slide provide to the provider team?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Summarize that execution depends on economics, policy timing, payer controls, and disciplined assumption management.</a:t>
            </a:r>
          </a:p>
          <a:p xmlns:a="http://schemas.openxmlformats.org/drawingml/2006/main"/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collapse nuanced payer and site variation into one conclusion.</a:t>
            </a:r>
          </a:p>
          <a:p xmlns:a="http://schemas.openxmlformats.org/drawingml/2006/main"/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What should the provider team remember after this discussion?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Use this as a concise reinforcement tool after the discussion and tailor follow-up to payer-specific questions.</a:t>
            </a:r>
          </a:p>
          <a:p xmlns:a="http://schemas.openxmlformats.org/drawingml/2006/main"/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use this page as a substitute for detailed policy verification.</a:t>
            </a:r>
          </a:p>
          <a:p xmlns:a="http://schemas.openxmlformats.org/drawingml/2006/main"/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What is the concise summary of the ARM position?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Keep the discussion on Appendix / Assumptions practical, planning-oriented, and tied to payer-specific verification steps.</a:t>
            </a:r>
          </a:p>
          <a:p xmlns:a="http://schemas.openxmlformats.org/drawingml/2006/main"/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represent assumptions or timelines as guaranteed outcomes.</a:t>
            </a:r>
          </a:p>
          <a:p xmlns:a="http://schemas.openxmlformats.org/drawingml/2006/main"/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What decision or clarification should this slide provide to the provider team?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Keep the discussion on HOPD Interim Billing Elements practical, planning-oriented, and tied to payer-specific verification steps.</a:t>
            </a:r>
          </a:p>
          <a:p xmlns:a="http://schemas.openxmlformats.org/drawingml/2006/main"/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represent assumptions or timelines as guaranteed outcomes.</a:t>
            </a:r>
          </a:p>
          <a:p xmlns:a="http://schemas.openxmlformats.org/drawingml/2006/main"/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What decision or clarification should this slide provide to the provider team?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Keep the discussion on Physician Office Initial Sales Period practical, planning-oriented, and tied to payer-specific verification steps.</a:t>
            </a:r>
          </a:p>
          <a:p xmlns:a="http://schemas.openxmlformats.org/drawingml/2006/main"/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represent assumptions or timelines as guaranteed outcomes.</a:t>
            </a:r>
          </a:p>
          <a:p xmlns:a="http://schemas.openxmlformats.org/drawingml/2006/main"/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What decision or clarification should this slide provide to the provider team?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Keep the discussion on Pass-Through Package Requirements practical, planning-oriented, and tied to payer-specific verification steps.</a:t>
            </a:r>
          </a:p>
          <a:p xmlns:a="http://schemas.openxmlformats.org/drawingml/2006/main"/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represent assumptions or timelines as guaranteed outcomes.</a:t>
            </a:r>
          </a:p>
          <a:p xmlns:a="http://schemas.openxmlformats.org/drawingml/2006/main"/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What decision or clarification should this slide provide to the provider team?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Keep the discussion on Site-Specific Conversation Map practical, planning-oriented, and tied to payer-specific verification steps.</a:t>
            </a:r>
          </a:p>
          <a:p xmlns:a="http://schemas.openxmlformats.org/drawingml/2006/main"/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represent assumptions or timelines as guaranteed outcomes.</a:t>
            </a:r>
          </a:p>
          <a:p xmlns:a="http://schemas.openxmlformats.org/drawingml/2006/main"/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What decision or clarification should this slide provide to the provider team?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3bc5c949ee4ad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B93027A-371A-4ACF-8002-DFE4F8ED160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33AF643-1110-4216-9010-38C328BFF6F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54f18ad8c8c44f8" /><Relationship Type="http://schemas.openxmlformats.org/officeDocument/2006/relationships/slideLayout" Target="/ppt/slideLayouts/slideLayout2.xml" Id="R279d7a19f31a4b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8AC989C-2B14-4AE8-B74C-28BDB013A2FE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9d7a19f31a4b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a52aae3ba84ccc" /><Relationship Type="http://schemas.openxmlformats.org/officeDocument/2006/relationships/notesSlide" Target="/ppt/notesSlides/notesSlide1.xml" Id="R6e1d79560f264a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1995dd95dc451a" /><Relationship Type="http://schemas.openxmlformats.org/officeDocument/2006/relationships/notesSlide" Target="/ppt/notesSlides/notesSlide2.xml" Id="R72a061a7edbd46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1ba69a21cc49e5" /><Relationship Type="http://schemas.openxmlformats.org/officeDocument/2006/relationships/notesSlide" Target="/ppt/notesSlides/notesSlide3.xml" Id="Re41f469e524843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cc06b072464a37" /><Relationship Type="http://schemas.openxmlformats.org/officeDocument/2006/relationships/notesSlide" Target="/ppt/notesSlides/notesSlide4.xml" Id="R1cd0b45546e749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6d8b741af64de2" /><Relationship Type="http://schemas.openxmlformats.org/officeDocument/2006/relationships/notesSlide" Target="/ppt/notesSlides/notesSlide5.xml" Id="R60370c2022df4f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f5cc71d052415e" /><Relationship Type="http://schemas.openxmlformats.org/officeDocument/2006/relationships/notesSlide" Target="/ppt/notesSlides/notesSlide6.xml" Id="R793defab33ef44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4ccf63fa5c457e" /><Relationship Type="http://schemas.openxmlformats.org/officeDocument/2006/relationships/notesSlide" Target="/ppt/notesSlides/notesSlide7.xml" Id="R3eba8542a2024c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0cb18eeb8a4a49" /><Relationship Type="http://schemas.openxmlformats.org/officeDocument/2006/relationships/notesSlide" Target="/ppt/notesSlides/notesSlide8.xml" Id="R4ebc1489c63348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684a1d4b7b4c3c" /><Relationship Type="http://schemas.openxmlformats.org/officeDocument/2006/relationships/notesSlide" Target="/ppt/notesSlides/notesSlide9.xml" Id="R4cac4e7968c84a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08a11e2cb446de" /><Relationship Type="http://schemas.openxmlformats.org/officeDocument/2006/relationships/notesSlide" Target="/ppt/notesSlides/notesSlide10.xml" Id="Rc9ca46af94cf45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1f2d4d1ea3472a" /><Relationship Type="http://schemas.openxmlformats.org/officeDocument/2006/relationships/notesSlide" Target="/ppt/notesSlides/notesSlide11.xml" Id="Rb1c8a04d2d684e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955514bbf34d57" /><Relationship Type="http://schemas.openxmlformats.org/officeDocument/2006/relationships/notesSlide" Target="/ppt/notesSlides/notesSlide12.xml" Id="R211c7b259cc2457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4f0fd18ab046b3" /><Relationship Type="http://schemas.openxmlformats.org/officeDocument/2006/relationships/notesSlide" Target="/ppt/notesSlides/notesSlide13.xml" Id="Rb57e27060fd6459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6396e29a624dfa" /><Relationship Type="http://schemas.openxmlformats.org/officeDocument/2006/relationships/notesSlide" Target="/ppt/notesSlides/notesSlide14.xml" Id="Recc0d49a4e7f4a7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8467ef02814c34" /><Relationship Type="http://schemas.openxmlformats.org/officeDocument/2006/relationships/notesSlide" Target="/ppt/notesSlides/notesSlide15.xml" Id="R0db2835f74c64ae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e8ed1218cc465b" /><Relationship Type="http://schemas.openxmlformats.org/officeDocument/2006/relationships/notesSlide" Target="/ppt/notesSlides/notesSlide16.xml" Id="R168053bef0504a2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78f5780571443e" /><Relationship Type="http://schemas.openxmlformats.org/officeDocument/2006/relationships/notesSlide" Target="/ppt/notesSlides/notesSlide17.xml" Id="R9ebd1d0019f7455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7af7aff51d46c4" /><Relationship Type="http://schemas.openxmlformats.org/officeDocument/2006/relationships/notesSlide" Target="/ppt/notesSlides/notesSlide18.xml" Id="Ra6b88b7e12b94c9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492eb9809c4099" /><Relationship Type="http://schemas.openxmlformats.org/officeDocument/2006/relationships/notesSlide" Target="/ppt/notesSlides/notesSlide19.xml" Id="Redbd37c0a5bd4e1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7602777fec4f44" /><Relationship Type="http://schemas.openxmlformats.org/officeDocument/2006/relationships/notesSlide" Target="/ppt/notesSlides/notesSlide20.xml" Id="Rd792c3eeb4a74ba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c25e7060994dcf" /><Relationship Type="http://schemas.openxmlformats.org/officeDocument/2006/relationships/notesSlide" Target="/ppt/notesSlides/notesSlide21.xml" Id="Rba310739cc5b4f8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253f5d9fad45bf" /><Relationship Type="http://schemas.openxmlformats.org/officeDocument/2006/relationships/notesSlide" Target="/ppt/notesSlides/notesSlide22.xml" Id="R36912f551ec641e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86366a08984ba5" /><Relationship Type="http://schemas.openxmlformats.org/officeDocument/2006/relationships/notesSlide" Target="/ppt/notesSlides/notesSlide23.xml" Id="Rfc8578807e3342d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7390e776ce47fd" /><Relationship Type="http://schemas.openxmlformats.org/officeDocument/2006/relationships/notesSlide" Target="/ppt/notesSlides/notesSlide24.xml" Id="Re984181fd07648f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9d36c158fb4e6e" /><Relationship Type="http://schemas.openxmlformats.org/officeDocument/2006/relationships/notesSlide" Target="/ppt/notesSlides/notesSlide25.xml" Id="Rf2a80d2cc38f4a5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92ebd2162d476b" /><Relationship Type="http://schemas.openxmlformats.org/officeDocument/2006/relationships/notesSlide" Target="/ppt/notesSlides/notesSlide26.xml" Id="R465b5d97acde4a3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59e2b0d88a4c59" /><Relationship Type="http://schemas.openxmlformats.org/officeDocument/2006/relationships/notesSlide" Target="/ppt/notesSlides/notesSlide27.xml" Id="R5840ec7a57094e6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74374bd7cb4f54" /><Relationship Type="http://schemas.openxmlformats.org/officeDocument/2006/relationships/notesSlide" Target="/ppt/notesSlides/notesSlide28.xml" Id="R085b8450e552404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9967117ceb4e06" /><Relationship Type="http://schemas.openxmlformats.org/officeDocument/2006/relationships/notesSlide" Target="/ppt/notesSlides/notesSlide29.xml" Id="R2cc71669373f492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8323f41cc74638" /><Relationship Type="http://schemas.openxmlformats.org/officeDocument/2006/relationships/notesSlide" Target="/ppt/notesSlides/notesSlide30.xml" Id="R7eb0f34b6fdc47f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54a429255647f7" /><Relationship Type="http://schemas.openxmlformats.org/officeDocument/2006/relationships/notesSlide" Target="/ppt/notesSlides/notesSlide31.xml" Id="R0e8e36760c4047d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d48ea102c7489f" /><Relationship Type="http://schemas.openxmlformats.org/officeDocument/2006/relationships/notesSlide" Target="/ppt/notesSlides/notesSlide32.xml" Id="R0d43cb87bfc54e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4D27B1E-1BD9-4B5B-8110-61033C7B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9F121EA2-299D-4347-B52F-68E9A816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61925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BA47B85-E1FA-4A0E-9BA1-3262FDCB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00100"/>
            <a:ext cx="952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50ECC1C-41A7-4443-B869-DC21AFC2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07232"/>
            <a:ext cx="933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Adrabetadex</a:t>
            </a:r>
            <a:r>
              <a:rPr sz="3300" b="1">
                <a:solidFill>
                  <a:srgbClr val="1F2937"/>
                </a:solidFill>
              </a:rPr>
              <a:t> Coding, Reimbursement, and Provider Economics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C63F508-E201-4797-994B-33536869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24125"/>
            <a:ext cx="5715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B5563"/>
                </a:solidFill>
              </a:defRPr>
            </a:pPr>
            <a:r>
              <a:rPr sz="2250" b="1">
                <a:solidFill>
                  <a:srgbClr val="4B5563"/>
                </a:solidFill>
              </a:rPr>
              <a:t>ARM Training Guide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590B3DA-04D9-4C39-8E6B-B78BD6F7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4476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7AA265D-9E5E-4720-8EF2-C364D931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86175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766E"/>
                </a:solidFill>
              </a:defRPr>
            </a:pPr>
            <a:r>
              <a:rPr sz="1350" b="0">
                <a:solidFill>
                  <a:srgbClr val="0F766E"/>
                </a:solidFill>
              </a:rPr>
              <a:t>Audience: Area Reimbursement Managers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4DABF57-63F6-4F38-9CB1-F2F93B83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7429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E21D58E-E6B6-41B8-B75A-D338BE84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</a:defRPr>
            </a:pPr>
            <a:r>
              <a:rPr sz="1500" b="0">
                <a:solidFill>
                  <a:srgbClr val="0F766E"/>
                </a:solidFill>
              </a:rPr>
              <a:t>Core Message: Adrabetadex is not only a coverage conversation. It is a provider economics conversation.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4E86C5-E257-41B1-BC29-6CDB9962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3BF408-423E-40A6-BCC5-9153DD47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327124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AEA3756-4A29-409A-B972-889EB407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EA7CFEAF-27C6-49B4-9AF5-B37D5BE2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413FF20-07C8-41B3-B57F-CDC4DDB4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7C6D077-81CB-4A83-993D-CAC4828F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Why This Matters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A15F6A6-A254-4224-83E5-02607E32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6962D5B-A32D-4993-992F-49F3A66F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623BB00-34F0-4840-A18B-C6ED49AD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1333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Launch success depends on more than coverage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Sites must acquire, code, bill, and recover cost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High-cost recurring therapy creates margin and cash-flow risk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C5B7A79-C5F7-471D-8821-D6CF934D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5143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6C022FB-44C8-40B2-9D6E-3A22763D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4667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F766E"/>
                </a:solidFill>
              </a:defRPr>
            </a:pPr>
            <a:r>
              <a:rPr sz="1350" b="0">
                <a:solidFill>
                  <a:srgbClr val="0F766E"/>
                </a:solidFill>
              </a:rPr>
              <a:t>Not Just Coverage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C3C352B-CFF3-4119-8A47-A7839536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5334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36D8E21-617C-40C4-A33F-7949E9E8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57650"/>
            <a:ext cx="485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F766E"/>
                </a:solidFill>
              </a:defRPr>
            </a:pPr>
            <a:r>
              <a:rPr sz="1350" b="0">
                <a:solidFill>
                  <a:srgbClr val="0F766E"/>
                </a:solidFill>
              </a:rPr>
              <a:t>Provider Economics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074AE669-7596-4E2B-BB51-53F21057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7429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44FF5DA-2792-46AF-B187-45FC1D35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</a:defRPr>
            </a:pP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43334E-0F00-4F76-BF58-35953392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580961-CF5C-4AC0-99C6-BDAABDA4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8B1B12-E427-441C-87E8-1E55C540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7317955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D5DC83D-9732-499C-8866-649B974A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FEAF9A8E-CA3A-4B28-B5A0-08CE184A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F98C09A-9CFB-4D9B-9DB6-AE86ABE5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9FA98D0-B563-4C47-B684-46E5AFFC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Key Economics At Launch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0BABE60-AEFC-4B0D-9F51-A9A0AB7B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51FE5C9-4258-4116-8000-D773CF81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C5A5FE0-A4A7-486A-96AA-E3000A37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104900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21" name="Table 8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258535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429250"/>
              </a:tblGrid>
              <a:tr h="5170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WAC per 900 mg vial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$39,000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Dosing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Every 2 weeks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Annual administrations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26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Annual gross drug WAC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$1,014,000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C30726D-491B-4583-AF14-8F64D393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766E"/>
                </a:solidFill>
              </a:defRPr>
            </a:pPr>
            <a:r>
              <a:rPr sz="1500" b="0">
                <a:solidFill>
                  <a:srgbClr val="0F766E"/>
                </a:solidFill>
              </a:rPr>
              <a:t>Sites will ask whether they can recover cost without recurring loss.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524C158-7568-493E-9F7E-F44EEE49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7429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665D6DF-7797-4FD4-BA8F-A0CC68E7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</a:defRPr>
            </a:pP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8A91E0-9B63-42F9-B922-6F93DEE0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FD47C1-9069-449B-85AC-2D7196C0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A1B0C8-D1EB-4111-993F-024830E1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6777314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EE4EC07-574A-406B-917B-D1FA4DF8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570E6EA9-B1DE-4B32-9B9D-A8359338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DFBF1FD-51A3-4AC3-9B0F-469511A1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451A629-9E4C-4EC8-838D-781A3F69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Launch Figures ARMs Must Know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E135C16-C96B-4710-B9A0-2C6AEA4F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04 / 32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D445B9A-017F-4B6E-B1D9-DCEC8BA5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2761F6EF-7050-4B17-B91B-E618914A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1049000" cy="4705350"/>
          </a:xfrm>
          <a:prstGeom xmlns:a="http://schemas.openxmlformats.org/drawingml/2006/main" prst="roundRect">
            <a:avLst>
              <a:gd name="adj" fmla="val 1619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20" name="Table 8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248708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4974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Figure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Working assumption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Why it matters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4974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WAC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$39,000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Base acquisition anchor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4974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Dosing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Every 2 weeks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26 annual administrations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  <a:tr h="4974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Annual gross drug WAC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$1,014,000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Patient-level exposure framing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4974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6-month exposure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$507,000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Near-term cash exposure view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3803A81-6D79-4F29-B097-AC41B067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7429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DD0373D-4BE2-4E35-AD69-F154279F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16720338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E8BC1DD-8B25-4824-A95F-4EE7F06C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56106E9A-F6B1-46EA-A18C-E0045CFF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57AF912-CF0E-43B2-AF9C-723D0C3B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1F4EC78-6293-45DF-8B5B-2AAF8FBC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Why 340B Matters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00DDD2B-79BB-43F2-8915-E8059521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05 / 32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59B36EB-A405-405C-84D0-99A5E991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AED731E-33F8-438E-B0FF-4D918C1E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766E"/>
                </a:solidFill>
              </a:defRPr>
            </a:pPr>
            <a:r>
              <a:rPr sz="1350" b="0">
                <a:solidFill>
                  <a:srgbClr val="0F766E"/>
                </a:solidFill>
              </a:rPr>
              <a:t>340B changes acquisition economics.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A91872D8-E7DC-4330-A9E1-495C7242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10490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23" name="Table 9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10858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714625"/>
                <a:gridCol w="2714625"/>
                <a:gridCol w="2714625"/>
              </a:tblGrid>
              <a:tr h="6286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Scenario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Acquisition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Payment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Spread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Commercial buy-and-bill at WAC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$39,000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$39,000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$0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Medicare initial sales benchmark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$39,000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$40,170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$1,170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340B + same benchmark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$29,991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$40,170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$10,179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White-bagging (payer-driven)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$0 provider acquisition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$0 drug reimbursement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$0 spread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885E44E-3CAD-4A03-8B87-7A5AB0BA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85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766E"/>
                </a:solidFill>
              </a:defRPr>
            </a:pPr>
            <a:r>
              <a:rPr sz="1500" b="0">
                <a:solidFill>
                  <a:srgbClr val="0F766E"/>
                </a:solidFill>
              </a:rPr>
              <a:t>340B can be the difference between fragile and sustainable economics.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F6E2979-C306-4497-BD72-2F1FFF8B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7429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0815649-ECCD-4B85-A60C-3ED09D4B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17349973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78107E7-B3ED-4926-A39F-41A122C8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18BB5AE9-5CEB-414F-A449-0BB77C7F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1470685-8D60-443E-A3DE-F2F830D8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04A71E1-9AF4-4BB6-9D73-A8F00F03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340B + Pass-Through + HCPCS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25A8AAF-7EDB-446F-A20C-AFA9AFB6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06 / 32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1DB576F-F391-4B07-822E-48B9E570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951FC81-CCAF-4D81-A570-FF788B98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3CC0F9C-C030-49C4-8531-7ED603DF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95475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1. Lower acquisition cost through 340B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42C8E1B-FC44-42B8-84D0-5259AB1F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906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EA8BCB6-D161-4AA1-BF88-0CAD0677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908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2. Separate payment visibility through pass-through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AFD071C0-B508-4430-861C-573AF75B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9906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D94481F-7152-4825-B6DA-A39EA99C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86225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3. Cleaner coding through product-specific HCPCS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3BC0D12A-0193-44A7-9D69-F97B894F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05375"/>
            <a:ext cx="9906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C35CB58-A3F5-46EC-8DD2-FBF8C94F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8160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4. Operational discipline on claims/NDC/docs/sourcing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859AC1E-C78C-40BA-A369-0C46E00E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85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Do not say 340B guarantees profit.</a:t>
            </a:r>
          </a:p>
        </p:txBody>
      </p:sp>
    </p:spTree>
    <p:extLst>
      <p:ext uri="{BB962C8B-B14F-4D97-AF65-F5344CB8AC3E}">
        <p14:creationId xmlns:p14="http://schemas.microsoft.com/office/powerpoint/2010/main" val="15966442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5A6AD62-9019-4DBC-B499-089830EB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3010D997-A04D-40D2-BECD-1A9A47EB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C18E20F-8035-40AC-9EFD-971CE646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4C279CA-9D33-413B-8A17-88C472A7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The 4 Provider Questions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7F5A802-6E4F-4821-A209-C28C542F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07 / 32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4EE2FAF-AC2F-40A9-B253-560AC193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A83BDFAE-1135-4936-AE45-6DFE3249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334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2790868-5822-4790-B2BA-3A67A35D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7165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1. How Is Product Acquired?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4C2321E-8334-4A51-9B37-5E008140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495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1333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Buy-and-bill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White-bagging (payer-driven)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Specialty pharmacy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BFF47EEA-838B-4BC4-A474-01455E8C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334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6EC6325-B88A-4515-8D87-8C6B14FB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2. How Is It Coded/Billed?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ADCCCF5-F18B-4BC0-A490-B792B1B8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495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1333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Interim NOC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Product-specific HCPCS later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5DA27E56-BCDD-491F-A607-A7043D34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5334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86D01EA-B8BB-4B09-996D-A423BF38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766E"/>
                </a:solidFill>
              </a:defRPr>
            </a:pPr>
            <a:r>
              <a:rPr sz="1350" b="0">
                <a:solidFill>
                  <a:srgbClr val="0F766E"/>
                </a:solidFill>
              </a:rPr>
              <a:t>3. How Is It Paid?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7816139-FC5E-47FB-8305-E05C72B0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495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1333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Medicare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Commercial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Medicaid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Pass-through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D0E23B77-4EF9-4D20-A7C9-F6B08B59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5334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2110984-B0D7-4BBE-B829-5A2986E8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6715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766E"/>
                </a:solidFill>
              </a:defRPr>
            </a:pPr>
            <a:r>
              <a:rPr sz="1350" b="0">
                <a:solidFill>
                  <a:srgbClr val="0F766E"/>
                </a:solidFill>
              </a:rPr>
              <a:t>4. Can the Site Recover Cost?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34DBC32F-049B-442A-ACC5-7AFE67F5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62450"/>
            <a:ext cx="495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1333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Margin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Cash flow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Denials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Delay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B74B99AF-8139-4381-89A7-52987179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7429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BA64F19-FB98-4382-8C7A-DFFD0F5B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12975790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F0D7C13-144C-4B92-ADBA-7ED70C2F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97D26D72-D1AC-4140-AD6B-245CA376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FE541F1-BA79-498B-AE59-36B2A222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A482C17-17A1-41FF-8C00-C3612228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EAP Does Not Equal Launch Readiness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B815A06-40A3-4278-B1FE-CDBCBF54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08 / 32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FA9EC87-1BD2-4855-9D86-26554ADE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E8AB4B2-46D8-4055-A2A2-4E210B63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523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EAP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5BAC865-2B69-4BF9-9A94-80F45F62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47800"/>
            <a:ext cx="523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Commercial Launch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4D35D412-FEF5-453A-BE93-6BD300A1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5334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1DAE1EA-F73C-4C5E-A324-7A410CE3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334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B98E6B7-4AE1-4D38-AB1E-1279D12B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49053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1333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Manufacturer-supported access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Clinical familiarity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7042197-9D82-40BF-90F6-305F9DD3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49053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1333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PA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coding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claims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sourcing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payment timing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reconciliation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F3DCC9E-399D-46B3-8394-440B18A4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48300"/>
            <a:ext cx="1085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766E"/>
                </a:solidFill>
              </a:defRPr>
            </a:pPr>
            <a:r>
              <a:rPr sz="1500" b="0">
                <a:solidFill>
                  <a:srgbClr val="0F766E"/>
                </a:solidFill>
              </a:rPr>
              <a:t>A site may know how to administer Adrabetadex clinically and still not be commercially ready.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9FFDE4F-697A-46E6-9569-598D4673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7429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67B134A-5C1A-4DB2-A364-FA5D167F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3884756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12ECDA2-B42F-44E9-A467-E20FF8EC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DE53F29D-5E36-4E02-B32D-5731850D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8E2FC85-7B56-47B1-8A25-948ED265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53E7939-6376-4770-A946-AEA37CCA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Commercial Controls Sites May Face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4A00936-E882-4A8D-AE03-28FE2BAB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09 / 32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E597488-E54F-442B-B017-2E3609E6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C7EAE08-54F9-4633-BDC5-C2D595F7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1049000" cy="4324350"/>
          </a:xfrm>
          <a:prstGeom xmlns:a="http://schemas.openxmlformats.org/drawingml/2006/main" prst="roundRect">
            <a:avLst>
              <a:gd name="adj" fmla="val 1762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20" name="Table 8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227541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429250"/>
              </a:tblGrid>
              <a:tr h="4550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Payer Control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Launch Implication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Genetic confirmation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Front-end documentation burden may slow first-cycle billing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Specialist oversight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Referral and prescribing workflow affects treatment timing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Documented positive response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Continuation criteria can create renewal friction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Combination restrictions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Regimen choices can trigger claim denials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EF6D67D-3CA0-409E-B1A3-469D44A0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7429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7B1939C-BE83-471E-927E-D9591D0E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14906747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F588D44-EA60-43C1-8421-2ECB3609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2C3E30AA-C4A9-43D5-85B6-646FDA27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1A1FC9E-DC96-45E6-BC06-F982E31A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566D171-6E6E-40C9-865F-E84CF95C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The Core Provider Economics Problem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34C6585-50EB-4963-B5B2-2A9C10B8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10 / 32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1AA2CD4-0C00-4888-9DED-19A0ECEC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A3DB743-2277-4E40-9163-9AA09C93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1049000" cy="4324350"/>
          </a:xfrm>
          <a:prstGeom xmlns:a="http://schemas.openxmlformats.org/drawingml/2006/main" prst="roundRect">
            <a:avLst>
              <a:gd name="adj" fmla="val 1762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19" name="Table 8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186170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429250"/>
              </a:tblGrid>
              <a:tr h="3723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Economic Driver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Why It Matters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3723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Drug acquisition cost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Largest immediate cash outlay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3723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Allowed reimbursement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Determines gross recovery potential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  <a:tr h="3723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Administration revenue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Offsets delivery work, not drug cost alone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3723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Labor cost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Infusion coordination and support affect true margin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D7B9574-EBF9-4158-8142-677EC9D9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85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766E"/>
                </a:solidFill>
              </a:defRPr>
            </a:pPr>
            <a:r>
              <a:rPr sz="1500" b="0">
                <a:solidFill>
                  <a:srgbClr val="0F766E"/>
                </a:solidFill>
              </a:rPr>
              <a:t>Coverage answers whether payer may pay. Provider economics answers whether site can sustainably deliver therapy.</a:t>
            </a:r>
          </a:p>
        </p:txBody>
      </p:sp>
    </p:spTree>
    <p:extLst>
      <p:ext uri="{BB962C8B-B14F-4D97-AF65-F5344CB8AC3E}">
        <p14:creationId xmlns:p14="http://schemas.microsoft.com/office/powerpoint/2010/main" val="7260615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CFF577F-91AF-49E4-8D0B-C81FA1BF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5D1DABA9-1504-4AEE-9B61-790F41B0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A9D938F-A4B0-4322-ABC1-A3548191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7F8A66A-BF39-4F78-956E-495A3304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Timing Roadmap (Planning Assumptions)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BD2F16B-7DD5-46D7-81BC-D6D1725D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E8BA29-12BE-4B15-A30C-40310E32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2C358C8-7D84-427B-B40C-5395307E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0"/>
            <a:ext cx="10134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A8BAB0E5-BCFD-4BA1-9E09-99F47A52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5D2096F-ADEF-42B5-8113-05184661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28194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F766E"/>
                </a:solidFill>
              </a:defRPr>
            </a:pPr>
            <a:r>
              <a:rPr sz="1350" b="0">
                <a:solidFill>
                  <a:srgbClr val="0F766E"/>
                </a:solidFill>
              </a:rPr>
              <a:t>Aug 17, 2026 (planning assumption)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A3DC301-62CC-463B-9E6C-9150F83E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2057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Regulatory decision planning checkpoint (if granted)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EDB82024-8EE4-46A4-B70D-ED360166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33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EA230B8-277B-498D-8BA1-69407334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8194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F766E"/>
                </a:solidFill>
              </a:defRPr>
            </a:pPr>
            <a:r>
              <a:rPr sz="1350" b="0">
                <a:solidFill>
                  <a:srgbClr val="0F766E"/>
                </a:solidFill>
              </a:rPr>
              <a:t>Sep 2026 (planning assumption)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EE85F1A-F9DA-4079-AAA9-4083F54C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57600"/>
            <a:ext cx="2057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Pass-through submission planning window</a:t>
            </a: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177D1A23-66E8-4C5E-A7EA-94BF4484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33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B378220-9319-4BE3-98C7-499B915B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8194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F766E"/>
                </a:solidFill>
              </a:defRPr>
            </a:pPr>
            <a:r>
              <a:rPr sz="1350" b="0">
                <a:solidFill>
                  <a:srgbClr val="0F766E"/>
                </a:solidFill>
              </a:rPr>
              <a:t>Oct 1, 2026 (if granted)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E6B603D-20CA-4011-B1A6-F1C1A2E3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57600"/>
            <a:ext cx="2057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First post-decision HCPCS application window</a:t>
            </a: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F0037814-81FA-4428-B3BB-960B92D0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33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18FA64C-4FE8-4C41-A37C-32C9DB4D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194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F766E"/>
                </a:solidFill>
              </a:defRPr>
            </a:pPr>
            <a:r>
              <a:rPr sz="1350" b="0">
                <a:solidFill>
                  <a:srgbClr val="0F766E"/>
                </a:solidFill>
              </a:rPr>
              <a:t>Jan 1, 2027 (expected earliest)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79359EA-2C34-4B52-A2A3-8DC97559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2057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Earliest practical pass-through effective period</a:t>
            </a:r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C0C95D15-C4E0-4638-9892-F6A4A7D5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333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5243FDDC-C02B-4E99-985B-39B64E92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8194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F766E"/>
                </a:solidFill>
              </a:defRPr>
            </a:pPr>
            <a:r>
              <a:rPr sz="1350" b="0">
                <a:solidFill>
                  <a:srgbClr val="0F766E"/>
                </a:solidFill>
              </a:rPr>
              <a:t>Apr 1, 2027 permanent HCPCS target (planning assumption)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21D13F0-98D5-44DD-B97A-1383AEE8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57600"/>
            <a:ext cx="2057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Potential product-specific HCPCS effective period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FE636B66-F640-4959-902D-7317CEB8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7429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E99D9C37-155C-4896-B73F-20A4FD98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</a:defRPr>
            </a:pPr>
            <a:r>
              <a:rPr sz="1500" b="0">
                <a:solidFill>
                  <a:srgbClr val="0F766E"/>
                </a:solidFill>
              </a:rPr>
              <a:t>Planning assumptions only: verify final CMS timelines, regulatory dates, and payer implementation rules.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4D239F-F29E-4129-8DC7-FF327CE2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00F17B-9076-4AB2-93BB-00566099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0A86D4-BB8C-4A90-873E-390B8A82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D70E2B-AE26-4E52-BDC4-0EED8082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4507001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E4F9CC6-5DBA-4B96-B3E3-B0A8ED54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4B22E1A3-4085-40B2-B426-E0AE5B0D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B02F5A-301C-49BA-A366-F907534F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48A3D6A-93D7-4854-A497-C1A45831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Coding and Pass-Through Are Separate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8C59DA1-007E-4325-8945-431B4699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12 / 32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835D9F4-4B08-47B5-8A0E-D8FECEEC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78A5F96-7F50-4D1A-BE74-0772D4AA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523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HCPCS Coding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2E2708E-59EC-447F-A492-B0B3E7F3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47800"/>
            <a:ext cx="523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OPPS Pass-Through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DCBA8B4D-C7D2-42D1-8189-8712127D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5334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407A05D1-35A7-4073-86FB-DEE1ED52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71650"/>
            <a:ext cx="5334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35C5DC8-37E7-44D5-BC29-C305DE59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4953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1333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Identifies product on claim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Product-specific code may lag launch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D774F4E-BA21-4DCA-8BA4-AB275576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71700"/>
            <a:ext cx="4953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1333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Temporary Medicare HOPD payment mechanism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Improves separate payment visibility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1AF17B0-5E49-408F-BD5D-39F23A4B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1085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Do not present these as the same process.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888E0916-08D6-4A8F-8E2E-CD0F533B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7429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242B632-7CF6-482D-875C-9EE2FC48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7355043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40434FC-25CD-4EF8-8260-69E560A2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FFC900F8-65D7-4776-8690-7974905C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92E0265-15B1-4BF6-B3CE-E5A0053D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B07E2BD-1D9A-49CC-95D4-48D61F7A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Interim Coding Before Product-Specific HCPCS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4F7F079-73F1-464D-8E12-F8D452F0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13 / 32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8794A04-0A78-4C65-B480-405366B2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DE7084A6-9A08-4A34-959A-096F4618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1049000" cy="4324350"/>
          </a:xfrm>
          <a:prstGeom xmlns:a="http://schemas.openxmlformats.org/drawingml/2006/main" prst="roundRect">
            <a:avLst>
              <a:gd name="adj" fmla="val 1762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20" name="Table 8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819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Setting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Likely Interim Path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ARM Training Point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HOPD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C9399 / NOC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Complete documentation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Physician office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J-code/NOC pathway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Clean NDC + dose + medical necessity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Commercial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Payer-specific instructions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Do not assume Medicare logic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Medicaid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NDC/PAD rules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Claim format can determine payment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991656D-3D2A-479F-9271-BC4287ED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7429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A299797-9873-4D05-8915-F470B7E8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18399525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BA25250-BEE6-4267-A3D2-6EB3F360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48CA88D0-4A2F-4F51-A8DF-7EE8814E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5596D77-AFC6-4E27-8CBC-1EEA062D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0072552-B66F-44FD-8207-222727EA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What Pass-Through Is / Does / Does Not Do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EC3CC55-8936-4857-989C-41176B1F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14 / 32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ECB7A71-630C-4960-98D8-20CE0543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25DBEF96-8220-45C7-9CF2-1B49047B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429000" cy="4095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376204E-B30C-49CD-AEDF-2FF5D9B3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Is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C08DCE8-E47E-4904-B243-103FE7A8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304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1333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Temporary OPPS payment pathway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2-3 years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351F5C47-FE17-4A78-8525-E83B1D69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3429000" cy="4095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30D5C46-CB83-4999-BA55-129DB0FB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8595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Does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37D03AE-2E30-40D5-8521-B4055856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304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1333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Improves Medicare HOPD payment visibility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Helps budgeting and planning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F0EB87A-147A-4E11-B5F9-E015B02A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14500"/>
            <a:ext cx="3429000" cy="4095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7F1264D-BCBC-4897-A067-1C93EEF0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8595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Does Not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A8F82C5-426C-4453-8F9B-DE66DC4E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304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1333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Remove PA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Override commercial controls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Remove white-bagging (payer-driven)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Fix Medicaid mechanics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Remove documentation burden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B1F06D1D-29F5-4A17-BBA4-49356791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7429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9F54A1F-DDE6-4DC6-B434-8E4B202F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5802602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27D1CC4-77A6-44F0-9952-4AC7B4C6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E75455BC-5584-4203-916C-DC1F60AA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948924E-1BBD-4524-AE78-74C470C1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2779622-0F6D-4EE4-81E1-17D2B1BE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White-Bagging And Specialty Pharmacy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E0F9CC6-2EB8-4C86-AF5E-6E7F57DB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15 / 32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150BEBB-AD90-4A30-B723-202AE6F4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6450400-FA53-46C1-A324-27770FA8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1049000" cy="4229100"/>
          </a:xfrm>
          <a:prstGeom xmlns:a="http://schemas.openxmlformats.org/drawingml/2006/main" prst="roundRect">
            <a:avLst>
              <a:gd name="adj" fmla="val 1802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19" name="Table 8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429250"/>
              </a:tblGrid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Effect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Provider Implication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Reduces acquisition exposure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Lowers inventory cash-risk profile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Removes drug reimbursement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May remove drug spread opportunity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Preserves administration work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Operational burden remains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Adds operational complexity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Coordination and logistics become critical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7BBE6AC-89DF-43C4-B562-64F31CE9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85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766E"/>
                </a:solidFill>
              </a:defRPr>
            </a:pPr>
            <a:r>
              <a:rPr sz="1500" b="0">
                <a:solidFill>
                  <a:srgbClr val="0F766E"/>
                </a:solidFill>
              </a:rPr>
              <a:t>ARM message: White-bagging (payer-driven) reduces inventory risk but may remove drug spread.</a:t>
            </a:r>
          </a:p>
        </p:txBody>
      </p:sp>
    </p:spTree>
    <p:extLst>
      <p:ext uri="{BB962C8B-B14F-4D97-AF65-F5344CB8AC3E}">
        <p14:creationId xmlns:p14="http://schemas.microsoft.com/office/powerpoint/2010/main" val="14958363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9213E8-57D7-41A8-A805-BD7C1602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87AE553C-AB00-447C-A71E-58711726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2CF92D6-9A05-473D-82CD-68C7E081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94E44A6-536F-4A1A-BB91-8CB8CA8B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White-Bagging Discussion Guide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1B1788F-E0B4-41F0-AADB-55FB6F62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16 / 32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2E740F5-E4FA-46B1-900C-08D5B257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93669D6-C2F6-4BFA-BDDA-C146A883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1049000" cy="480060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18" name="Table 8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429250"/>
              </a:tblGrid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Provider Question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ARM Response Frame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Can we avoid inventory risk?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Potentially, yes, depending on payer sourcing policy.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Do we still make margin?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Drug spread may be reduced or removed; evaluate full economics.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Is white-bagging (payer-driven) always better?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Not always, operational complexity and control can increase.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Can we choose buy-and-bill?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Only when payer policy permits that pathway.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70526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A62C288-EC4A-4702-8480-184B4E3A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5DFD1A87-68A1-4903-A327-DB122867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D5F708A-2257-449C-B102-A006501A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55A8B39-C85E-4C15-A27D-438AD895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Medicaid and Pediatric Access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825FC50-ECC8-4D2C-90D8-ED3AD74C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17 / 32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17F17A8-CD54-4CAE-86AE-FFAA997D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D21B649-8457-4514-AB7F-CE18C264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523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Coverage Context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94B13CC-0DBA-49A8-BE24-A1B5BA46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47800"/>
            <a:ext cx="523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Payment Operations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8DB5E18-C938-4177-A3A0-24A16C35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5334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370EC9A-4337-458B-9C59-6ACE6FE2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71650"/>
            <a:ext cx="5334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E35C011-D3FB-4103-B42A-4448BE6C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4953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1333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EPSDT is important for pediatric coverage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Not a national reimbursement formula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B66208A-7C1E-4C47-9A37-9CC756B0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4953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1333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State payment varies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NDC may be required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Managed care differs from FFS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340B carve-in/carve-out matters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Duplicate discount controls matter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E29FE02-1220-46F0-88B8-B1D9D180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34050"/>
            <a:ext cx="1085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766E"/>
                </a:solidFill>
              </a:defRPr>
            </a:pPr>
            <a:r>
              <a:rPr sz="1500" b="0">
                <a:solidFill>
                  <a:srgbClr val="0F766E"/>
                </a:solidFill>
              </a:rPr>
              <a:t>Medicaid may support medical necessity, but reimbursement is still operationally complex.</a:t>
            </a:r>
          </a:p>
        </p:txBody>
      </p:sp>
    </p:spTree>
    <p:extLst>
      <p:ext uri="{BB962C8B-B14F-4D97-AF65-F5344CB8AC3E}">
        <p14:creationId xmlns:p14="http://schemas.microsoft.com/office/powerpoint/2010/main" val="2033351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02EBB01-7B2A-4419-BDD6-B980DCB1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EC92160D-A1F9-4B69-926B-861D31E5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48A3BDB-5E0A-4674-9971-8D049B79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072040E-D9FC-4B21-A0FA-64C00BCA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Medicaid ARM Discussion Frame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1CCAC93-4789-4EAC-84EC-9331B52D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18 / 32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AC1B7F9-1B39-41DB-9C7D-CD5BDF66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2D5D50E3-FAB2-4E58-9975-89C4FE92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1049000" cy="480060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18" name="Table 8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429250"/>
              </a:tblGrid>
              <a:tr h="653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ARM Framing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EPSDT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Coverage support can be strong, but billing execution still matters.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State payment variation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Discuss state-specific reimbursement mechanics early.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NDC reporting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Claim completeness can determine payment outcomes.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Managed care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Do not assume fee-for-service logic applies.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46430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13C1A1F-4881-4205-B745-E2840EB8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D215C2F0-F500-45FF-8753-FE39A0BA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552232D-049C-4617-861F-33FFD1A5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8791635-AEAB-4A56-91BA-0F7C03B3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Treatment Environment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1DDD3CA-E8D2-4B4E-BE75-F6A4530D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19 / 32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9772319-CBB1-4C29-A266-D3B24467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3C97FAD-5000-4391-8390-00446477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1049000" cy="35623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21" name="Table 8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429250"/>
              </a:tblGrid>
              <a:tr h="555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Site Type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Why It Matters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Pediatric specialty hospitals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Concentrated expertise, high-complexity administration pathways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Academic centers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Coding and reimbursement capabilities vary by institution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Centers of excellence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Likely high influence on early utilization patterns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Centers of excellence (default: 340B COE)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Default planning scenario; test non-340B as sensitivity/exception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8632414-A4E8-469C-A202-009E7F1C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85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766E"/>
                </a:solidFill>
              </a:defRPr>
            </a:pPr>
            <a:r>
              <a:rPr sz="1500" b="0">
                <a:solidFill>
                  <a:srgbClr val="0F766E"/>
                </a:solidFill>
              </a:rPr>
              <a:t>U.S. NPC incidence ~40/year | Infantile-onset ~20/year | Highly concentrated treatment environment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F6666D45-993D-495A-A9FC-2B8DA7FF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7429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9D56935-708C-48E1-8BE7-6C1DC3D0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155252158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58B6995-7A6B-4A02-88DB-43FDFD0F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374AFEDD-71A1-43F3-8DC5-0C755589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D0593B7-2596-4B21-A170-035EF8FF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2532C39-683E-49D4-B06D-7B648DB2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Provider-Facing Value Story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A3DCC11-1A29-4956-B1B8-CA003DB1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20 / 32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7EC22C4-AA30-49FB-861D-17F3D95D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84DD5EF9-EF82-428C-BD33-E3A8D589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588E7E9-0DB6-462F-9108-3D09286D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0382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F766E"/>
                </a:solidFill>
              </a:defRPr>
            </a:pPr>
            <a:r>
              <a:rPr sz="1500" b="0">
                <a:solidFill>
                  <a:srgbClr val="0F766E"/>
                </a:solidFill>
              </a:rPr>
              <a:t>Can this site administer Adrabetadex without recurring financial loss or unacceptable working-capital burden?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873B9D4-6691-44F4-8761-AD353577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38500"/>
            <a:ext cx="8953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1333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Buy-and-bill permitted?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340B eligible?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White-bagging (payer-driven) required?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Coding clear?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Pass-through active?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PA manageable?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Claims paid cleanly?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Medicaid rules manageable?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Support needed?</a:t>
            </a:r>
          </a:p>
        </p:txBody>
      </p:sp>
    </p:spTree>
    <p:extLst>
      <p:ext uri="{BB962C8B-B14F-4D97-AF65-F5344CB8AC3E}">
        <p14:creationId xmlns:p14="http://schemas.microsoft.com/office/powerpoint/2010/main" val="90432273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70575-B4D3-41FC-A152-D3F7101B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3BE4F30F-FBA4-4617-BC44-C57F6DBA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2E82229-0DDA-4216-9089-80712511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225E791-3DDD-4D8A-8E6A-C89C3A2E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Calculator: What It Is For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36B78E2-4EBD-484F-B6DC-A20539C1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21 / 32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7861CD4-C69C-40A1-90BF-F3B1BCEB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8E8FC73B-3864-4E87-8332-C594CB1A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1049000" cy="4229100"/>
          </a:xfrm>
          <a:prstGeom xmlns:a="http://schemas.openxmlformats.org/drawingml/2006/main" prst="roundRect">
            <a:avLst>
              <a:gd name="adj" fmla="val 1802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19" name="Table 8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429250"/>
              </a:tblGrid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Question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Why It Matters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Acquisition exposure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Shows working-capital and inventory burden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Reimbursement benchmark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Frames gross recovery potential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Operating cost impact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Captures non-drug margin pressure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Denial/payment timing sensitivity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Surfaces fragility drivers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C7507F8-CFCB-4D2D-A95C-A3D13366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85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Calculator is a conversation tool, not a payment guarantee.</a:t>
            </a:r>
          </a:p>
        </p:txBody>
      </p:sp>
    </p:spTree>
    <p:extLst>
      <p:ext uri="{BB962C8B-B14F-4D97-AF65-F5344CB8AC3E}">
        <p14:creationId xmlns:p14="http://schemas.microsoft.com/office/powerpoint/2010/main" val="21780585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758B079-ADB8-4934-9DAF-01890D13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86AB3376-4A08-421D-A928-FC60340A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B566363-F490-424A-94DE-7BDF9DBE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D97A611-F48F-4876-8F0F-2CFE861D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Calculator Outputs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34E5B26-E4A3-488C-92F0-1DA95ABD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22 / 32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AC95710-8EF9-4488-8AAC-E47F7044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935D6A9-D4C7-4A02-BA30-74AC1711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1049000" cy="4229100"/>
          </a:xfrm>
          <a:prstGeom xmlns:a="http://schemas.openxmlformats.org/drawingml/2006/main" prst="roundRect">
            <a:avLst>
              <a:gd name="adj" fmla="val 1802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19" name="Table 8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429250"/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Output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Use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Per-administration drug spread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Initial recovery view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Per-administration operating margin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Net operational picture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Annualized patient-level margin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Total year view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Cash exposure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Working-capital planning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816DBA7-0D3F-4D65-B257-86BF6B4E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85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500" b="0">
                <a:solidFill>
                  <a:srgbClr val="0F766E"/>
                </a:solidFill>
              </a:rPr>
              <a:t>Model shows non-340B and Medicaid scenarios may be fragile; 340B COE scenarios may be materially stronger.</a:t>
            </a:r>
          </a:p>
        </p:txBody>
      </p:sp>
    </p:spTree>
    <p:extLst>
      <p:ext uri="{BB962C8B-B14F-4D97-AF65-F5344CB8AC3E}">
        <p14:creationId xmlns:p14="http://schemas.microsoft.com/office/powerpoint/2010/main" val="207142890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2C9D54A-0F88-4DBE-82E6-CEEEDBE1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1E012D2F-9BD2-467C-9727-FA0EE1ED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267F6B4-ACA7-4194-8A67-200E9D0A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1BF4C94-5256-4E8E-B032-F55CBCC2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ARM Objection Handling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E4C8378-480C-488A-81C6-C006EEB8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23 / 32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7DB5A40-9488-40CD-B0BB-022F979C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AE8EB6A7-3BD6-49CC-8876-4802D099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1049000" cy="4991100"/>
          </a:xfrm>
          <a:prstGeom xmlns:a="http://schemas.openxmlformats.org/drawingml/2006/main" prst="roundRect">
            <a:avLst>
              <a:gd name="adj" fmla="val 1527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18" name="Table 8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429250"/>
              </a:tblGrid>
              <a:tr h="6803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Objection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Response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6803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EAP should make launch easy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EAP supports access, commercial billing still requires full operations.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6803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If covered, why model economics?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Coverage does not ensure sustainable margin or cash flow.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  <a:tr h="6803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Pass-through solves it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Pass-through helps visibility, it does not remove payer controls.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6803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340B means profitability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340B can improve spread, outcomes still depend on operations.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348820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DD4A055-F2E9-4176-BC19-FFCBF6B1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472FF9A7-D72F-48B1-A055-0B4D9575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47D1CB6-70F9-4CFF-AF89-D89CB030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7C963FF-8A71-4479-ACC6-B4D4C022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ARM Conversation Flow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96816C3-22CB-4ED5-B18F-CEADBF9F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24 / 32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D33B521-5594-4BB2-800B-AB73729F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21A3366E-5525-4E8D-817E-AA91606C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04950"/>
            <a:ext cx="9525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A0920A12-33B3-4BC2-AAFF-5FBFA9E9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38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B10FCD3-D68D-4B84-A73D-ABE93B24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666875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1. Confirm site type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C266754-5DAA-4126-857A-331DECFB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24100"/>
            <a:ext cx="9525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4A74376E-5AF7-4587-B4B3-FA877AB7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57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A2C5E10-DCEC-470F-AAC5-5DC750CD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486025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2. Confirm payer mix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C8859108-03FE-46E3-A04B-7FFBF4C1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43250"/>
            <a:ext cx="9525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53489AAC-5431-4494-AA2C-F516011B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76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A672211-CB21-43E8-A653-919E7A37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305175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3. Confirm acquisition pathway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FFF98F02-93E2-4341-95F0-882C7F21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62400"/>
            <a:ext cx="9525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4E21E8DC-7E42-4593-A92A-D57F0637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95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1198E02-32B9-420A-9DA5-9C3C44DD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24325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4. Confirm coding state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6811F156-0475-471C-8801-D67CDE5A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81550"/>
            <a:ext cx="9525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3498F329-36D7-4DC8-A683-00745389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14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8A7AF22A-6375-4F8A-B14C-28A8BE40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943475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5. Run scenario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C89D53E7-6856-4763-8E82-560F6BCA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00700"/>
            <a:ext cx="9525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4" name="Oval 23">
            <a:extLst xmlns:a="http://schemas.openxmlformats.org/drawingml/2006/main">
              <a:ext uri="{FF2B5EF4-FFF2-40B4-BE49-F238E27FC236}">
                <a16:creationId xmlns:a16="http://schemas.microsoft.com/office/drawing/2014/main" id="{3E90B5BB-0DA5-4AB5-B1D6-27F7096D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34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792BEB3-C008-4008-B322-21FB6E9D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762625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6. Translate to site implication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3D67CE74-AE43-4BF4-A10F-583BF87A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7429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5A1B785E-ACD3-43FD-9BD1-6DB75665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62501136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8C78B25-EB97-458F-B8CA-1587A9A5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0EA5315D-AA0B-4276-B56C-E982A72D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6F0D712-3B86-4A60-9A65-95A873A1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3C2FEA9-8A16-4D6F-9316-09845EF2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Do / Do Not Say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857E7CC-2001-461A-B2A7-6E460322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25 / 32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8883D0A-CDD0-4B40-977F-61D2C8E5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B459ED3-BF55-4E88-A08D-D38CD3FB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523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Do Say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B7EC765-D3CB-4FF7-8347-E27C0F8F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47800"/>
            <a:ext cx="523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Do Not Say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BEF0816-A009-427F-9023-0143FA9A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5334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1CF1A9C-4CEB-4C15-B003-E4CEB3ED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71650"/>
            <a:ext cx="5334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1636C55-6B1E-407E-90B6-FD82BCAC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1333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provider economics under different scenarios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340B changes acquisition cost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pass-through improves HOPD predictability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coding readiness matters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goal is sustainable administration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386F2FE-88CC-4FCA-97D0-79353201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1333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340B guarantees profit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pass-through guarantees payment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coverage means financially whole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EAP means commercial ease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white-bagging (payer-driven) solves economics</a:t>
            </a:r>
          </a:p>
        </p:txBody>
      </p:sp>
    </p:spTree>
    <p:extLst>
      <p:ext uri="{BB962C8B-B14F-4D97-AF65-F5344CB8AC3E}">
        <p14:creationId xmlns:p14="http://schemas.microsoft.com/office/powerpoint/2010/main" val="32138076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0F10E41-F6A3-437D-9141-2495E868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D3688937-D846-47B9-BA2F-8FFEB270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9712149-A19E-43ED-A3D0-8AB82675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A472A77-1F06-4789-A643-DA77FE99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Key Takeaways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7848A82-367E-41FD-92B4-A6D3BFFF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26 / 32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7D916F6-2207-4B97-8654-C148A072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EBB379C-6FAE-45F7-BDA9-2C1B8A29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668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1. Adoption depends on provider economics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2. EAP ≠ commercial launch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3. HCPCS and pass-through are separate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4. Interim coding matters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5. 340B is major economics lever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6. White-bagging (payer-driven) changes economics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7. Medicaid must be evaluated separately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8. Calculator should show scenario-specific value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9. Site-specific practicality matters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258786E-52B7-466A-9790-BA9E91CE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7429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ECA1C5D-90B8-4E52-94B9-52C64C83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21872216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2961528-4741-4174-B3F1-4C45C3C3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944CC22E-485B-42B5-AFC9-93EBFC10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742E0C5-14CB-45D2-A1CA-651B4EFD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9EBBB90-6436-439B-B2BB-C0A97BED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One-Page ARM Summary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56FE740-74ED-4985-99D8-8317A588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27 / 32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7496501-6C9D-4D3F-97E7-9CAF73C7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2E4BC854-C31D-44D9-82C8-3F26E4B8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1D9F9BC-49E6-48C9-A26E-569693B6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The point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EB5AA26-4488-46AC-8A8B-BBA8CD15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657350"/>
            <a:ext cx="809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Provider economics determines sustainable administration.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B129E1A-8BBE-4A0E-B820-A5489F9A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1085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A416B58-FE8C-409B-ABD2-6DD2B976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766E"/>
                </a:solidFill>
              </a:defRPr>
            </a:pPr>
            <a:r>
              <a:rPr sz="1350" b="0">
                <a:solidFill>
                  <a:srgbClr val="0F766E"/>
                </a:solidFill>
              </a:rPr>
              <a:t>The numbers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AE94CB0-025C-491A-A8CB-8D7D278B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47950"/>
            <a:ext cx="809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$39,000 WAC | q2w dosing | 26 annual administrations | $1,014,000 annual exposure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4B17198-02B0-4FEF-B3D0-AB127833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1085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2CFCE49-F7FF-4CD8-827A-825A391E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766E"/>
                </a:solidFill>
              </a:defRPr>
            </a:pPr>
            <a:r>
              <a:rPr sz="1350" b="0">
                <a:solidFill>
                  <a:srgbClr val="0F766E"/>
                </a:solidFill>
              </a:rPr>
              <a:t>The launch reality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8957F50-9E44-4DE6-8EE0-BF051565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38550"/>
            <a:ext cx="809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EAP familiarity does not equal commercial readiness.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C7C3CD14-21FD-4DA1-86CC-0E0DEDA1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85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B41E1B7-2121-45C9-AC0E-8B60CD49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766E"/>
                </a:solidFill>
              </a:defRPr>
            </a:pPr>
            <a:r>
              <a:rPr sz="1350" b="0">
                <a:solidFill>
                  <a:srgbClr val="0F766E"/>
                </a:solidFill>
              </a:rPr>
              <a:t>The provider question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C639BC0-D741-48F0-A20C-6561F940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29150"/>
            <a:ext cx="809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Can the site deliver without recurring loss or unacceptable cash burden?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8DEDB596-B480-4391-BAE0-FE664A4A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F3E42A96-17DA-4E49-A942-D5F15299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The ARM message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C6F37C93-8EBA-4C62-9EEA-AD66656F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619750"/>
            <a:ext cx="809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Use scenario-specific economics and operational facts, not coverage-only framing.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B1CF2C37-ED59-46BA-9372-09480EB9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7429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A6A20C74-1C50-4982-A9C0-759751EE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92869179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FB10487-56BD-488A-AC8C-46AF808E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53AEF85F-41BD-4FCA-A85C-BE561EEE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08FB6DE-2D23-4EAF-BF44-D2F97FCB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91C0EB5-2625-40DE-A267-708DE35D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Appendix / Assumptions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A47CC8A-CDC0-44EE-A8D5-2A1CF8EF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28 / 32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7FB7EEB-DDDA-44AC-A1AF-BF2BADA5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66127DA-89D8-42BC-8DCA-1DEB88DE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668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1333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Aug 17, 2026 PDUFA assumption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Infantile-onset NPC target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~40 NPC / year in U.S.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~20 infantile-onset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$39,000 WAC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Q2W dosing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26 annual administrations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$1.014M annual gross drug exposure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$507K 6-month exposure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103% of WAC benchmark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Interim NOC coding before product-specific HCPCS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340B modeled assumptions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Model should be updated as label / coding / payer rules evolve</a:t>
            </a:r>
          </a:p>
        </p:txBody>
      </p:sp>
    </p:spTree>
    <p:extLst>
      <p:ext uri="{BB962C8B-B14F-4D97-AF65-F5344CB8AC3E}">
        <p14:creationId xmlns:p14="http://schemas.microsoft.com/office/powerpoint/2010/main" val="89571996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B087832-CC3E-4478-87E3-6B1C553D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46594928-E570-480D-98EF-0DE7EE86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C198EC8-0125-4B67-8F35-B0D032BA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5A136F2-7453-4FD2-8D50-C315E53E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HOPD Interim Billing Elements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02A3A22-E5F5-4848-997F-F4150D3C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29 / 32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D1A3B89-E17F-406D-8963-C76E4892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85FE7FAB-1B6A-4255-A0FF-1B5468D7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1049000" cy="4610100"/>
          </a:xfrm>
          <a:prstGeom xmlns:a="http://schemas.openxmlformats.org/drawingml/2006/main" prst="roundRect">
            <a:avLst>
              <a:gd name="adj" fmla="val 1653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20" name="Table 8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429250"/>
              </a:tblGrid>
              <a:tr h="365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Element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Detail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Type of bill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13x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Revenue code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0636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HCPCS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C9399 or other NOC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NDC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Required where applicable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Units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Often 1 with supporting quantity details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Drug name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Required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Quantity administered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Required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UOM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Required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Date furnished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Required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Invoice support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Required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Medical necessity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Required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3FA4A5A-47B3-41D1-8D6F-F26CE019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7429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95C57F7-8449-406D-A540-6E520F40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50516475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DED8A84-E5F3-458B-A6F1-5B77B277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4943880F-51C8-4CCD-934E-03342B69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72C09E8-1D2C-4E29-93D0-30ABB0CC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3FAAC98-BB82-4DF1-8270-C783F979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Physician Office Initial Sales Period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78E1761-6CC5-4DAF-8135-5A31A447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30 / 32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043040D-B4BA-4622-86F9-B5FC8052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9B29105-3404-4B97-89BD-404D5E24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0"/>
            <a:ext cx="895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1F09F7F-F608-47FA-B536-B4F1AA14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76500"/>
            <a:ext cx="8001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F766E"/>
                </a:solidFill>
              </a:defRPr>
            </a:pPr>
            <a:r>
              <a:rPr sz="1350" b="0">
                <a:solidFill>
                  <a:srgbClr val="0F766E"/>
                </a:solidFill>
              </a:rPr>
              <a:t>$39,000 × 103% = $40,170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FD88609-889F-40F5-B94A-6B1416DD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623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Gross drug spread: $40,170 - $39,000 = $1,170 per administration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6ED617A-F261-4ACA-8ACF-EF06517B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76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1333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Thin spread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Before labor, denial, or payment delay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Positive gross spread may still produce fragile economics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7363172-7E1F-414D-99AE-04D23891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7429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06DB85E-5AE1-48BD-B273-03D5C6CA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206847284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3E67AAA-E515-4542-8CE9-ED852FBB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B157CF82-53F4-4582-A182-981433CB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6E2BC60-DAF0-458B-BD3C-D90D6075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385CDB9-8CF8-4BB0-803F-D4EB064A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Pass-Through Package Requirements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22240C7-6106-4DD7-9E52-565EC8A0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31 / 32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C5B6CC6-75E4-4BC9-A80D-79195952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4D5F87A-6E9B-41FE-A543-C3FEA9BF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1049000" cy="4991100"/>
          </a:xfrm>
          <a:prstGeom xmlns:a="http://schemas.openxmlformats.org/drawingml/2006/main" prst="roundRect">
            <a:avLst>
              <a:gd name="adj" fmla="val 1527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18" name="Table 8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429250"/>
              </a:tblGrid>
              <a:tr h="396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Required Element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Why It Matters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FDA approval letter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Confirms regulatory status for CMS submission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Final label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Defines indicated use and administration context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Trade/generic name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Ensures product identification clarity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Proposed descriptor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Supports coding/payment framing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Dosage form/package size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Supports billing unit and utilization logic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Method of administration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Links to setting and operational workflows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WAC/AWP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Establishes benchmark pricing references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ASP if available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Future payment relevance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Actual hospital cost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Supports economic realism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Market availability date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Establishes timing for operational planning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Site-of-care utilization projections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Supports expected utilization profile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705620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8031449-AB8C-4626-A04F-E2A38C34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B6E6A331-0B06-46ED-9AA9-E08C97B0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02B1F90-FCBC-4966-8FC6-7FCF277E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57D7BAD-3D71-4AE4-A5DA-3571AAE7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Site-Specific Conversation Map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F1D7897-2DE6-4538-85CC-43FBDDED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32 / 32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682572D-F637-46A0-885C-B4F1F620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F950E0E-E630-429E-A8A6-0DE736C3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1049000" cy="4991100"/>
          </a:xfrm>
          <a:prstGeom xmlns:a="http://schemas.openxmlformats.org/drawingml/2006/main" prst="roundRect">
            <a:avLst>
              <a:gd name="adj" fmla="val 1527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18" name="Table 8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429250"/>
              </a:tblGrid>
              <a:tr h="5291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Site Question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Why It Matters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340B eligible?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Changes acquisition cost and spread profile.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HOPD vs office?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Determines coding and payment mechanics.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Payer mix?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Drives scenario assumptions and risk profile.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Buy-and-bill allowed?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Determines inventory exposure and reimbursement pathway.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White-bagging (payer-driven) required?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Can reduce exposure while removing drug spread.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Product-specific HCPCS active?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Affects coding clarity and claim consistency.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Pass-through active?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Improves HOPD payment visibility while temporary.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Denial and payment delay assumptions?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/>
                        <a:t>Directly affect cash flow and practical sustainability.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86029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2026-04-23T01:18:39.2380000Z</dcterms:created>
  <dcterms:modified xsi:type="dcterms:W3CDTF">2026-04-23T01:18:39.2380000Z</dcterms:modified>
</coreProperties>
</file>