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visyn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2240280" cy="582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1160" y="265176"/>
            <a:ext cx="164592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50" b="1">
                <a:solidFill>
                  <a:srgbClr val="4D5656"/>
                </a:solidFill>
                <a:latin typeface="Aptos"/>
              </a:rPr>
              <a:t>Beren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484632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4D5656"/>
                </a:solidFill>
                <a:latin typeface="Aptos"/>
              </a:rPr>
              <a:t>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5120640" cy="64008"/>
          </a:xfrm>
          <a:prstGeom prst="rect">
            <a:avLst/>
          </a:prstGeom>
          <a:solidFill>
            <a:srgbClr val="A6D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6492240"/>
            <a:ext cx="6126480" cy="64008"/>
          </a:xfrm>
          <a:prstGeom prst="rect">
            <a:avLst/>
          </a:prstGeom>
          <a:solidFill>
            <a:srgbClr val="265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4023360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4D5656"/>
                </a:solidFill>
                <a:latin typeface="Aptos"/>
              </a:rPr>
              <a:t>Adrabetadex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8138160" cy="1417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4000" b="1">
                <a:solidFill>
                  <a:srgbClr val="4E8A2D"/>
                </a:solidFill>
                <a:latin typeface="Aptos"/>
              </a:rPr>
              <a:t>Provider Economics
and Adoption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5669280" cy="38404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900" b="0">
                <a:solidFill>
                  <a:srgbClr val="1F2E2B"/>
                </a:solidFill>
                <a:latin typeface="Aptos"/>
              </a:rPr>
              <a:t>Why Net Cost Recovery Determines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078992"/>
            <a:ext cx="3566160" cy="3017520"/>
          </a:xfrm>
          <a:prstGeom prst="round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417320"/>
            <a:ext cx="265176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4E8A2D"/>
                </a:solidFill>
                <a:latin typeface="Aptos"/>
              </a:rPr>
              <a:t>Management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856231"/>
            <a:ext cx="2788920" cy="10515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1F2E2B"/>
                </a:solidFill>
                <a:latin typeface="Aptos"/>
              </a:rPr>
              <a:t>Providers adopt when treatment is financially viable, not only when clinically convinced.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62179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4D5656"/>
                </a:solidFill>
                <a:latin typeface="Aptos"/>
              </a:rPr>
              <a:t>Prepared for Beren Therapeutics | Navisync Letterhead Format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visyn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2240280" cy="582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1160" y="265176"/>
            <a:ext cx="164592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50" b="1">
                <a:solidFill>
                  <a:srgbClr val="4D5656"/>
                </a:solidFill>
                <a:latin typeface="Aptos"/>
              </a:rPr>
              <a:t>Beren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484632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4D5656"/>
                </a:solidFill>
                <a:latin typeface="Aptos"/>
              </a:rPr>
              <a:t>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5120640" cy="64008"/>
          </a:xfrm>
          <a:prstGeom prst="rect">
            <a:avLst/>
          </a:prstGeom>
          <a:solidFill>
            <a:srgbClr val="A6D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6492240"/>
            <a:ext cx="6126480" cy="64008"/>
          </a:xfrm>
          <a:prstGeom prst="rect">
            <a:avLst/>
          </a:prstGeom>
          <a:solidFill>
            <a:srgbClr val="265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07040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000" b="1">
                <a:solidFill>
                  <a:srgbClr val="4E8A2D"/>
                </a:solidFill>
                <a:latin typeface="Aptos"/>
              </a:rPr>
              <a:t>Clinical value does not make a provider financially able to treat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99031"/>
            <a:ext cx="10607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50" b="0">
                <a:solidFill>
                  <a:srgbClr val="4D5656"/>
                </a:solidFill>
                <a:latin typeface="Aptos"/>
              </a:rPr>
              <a:t>The launch risk is operational economics at the treatment center.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5029200" cy="1097280"/>
          </a:xfrm>
          <a:prstGeom prst="round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084831"/>
            <a:ext cx="155448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4E8A2D"/>
                </a:solidFill>
                <a:latin typeface="Aptos"/>
              </a:rPr>
              <a:t>Decision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395728"/>
            <a:ext cx="434340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F2E2B"/>
                </a:solidFill>
                <a:latin typeface="Aptos"/>
              </a:rPr>
              <a:t>Does the provider make or lose money treating this patient?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4206240" cy="1828800"/>
          </a:xfrm>
          <a:prstGeom prst="roundRect">
            <a:avLst/>
          </a:prstGeom>
          <a:solidFill>
            <a:srgbClr val="F7FAF6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84831"/>
            <a:ext cx="3520440" cy="8229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1F2E2B"/>
                </a:solidFill>
                <a:latin typeface="Aptos"/>
              </a:rPr>
              <a:t>The calculator translates reimbursement mechanics into a go / no-go adoption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292608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4E8A2D"/>
                </a:solidFill>
                <a:latin typeface="Aptos"/>
              </a:rPr>
              <a:t>Plain-English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82296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4E8A2D"/>
                </a:solidFill>
                <a:latin typeface="Aptos"/>
              </a:rPr>
              <a:t>HCPCS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69080"/>
            <a:ext cx="3977639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4D5656"/>
                </a:solidFill>
                <a:latin typeface="Aptos"/>
              </a:rPr>
              <a:t>Billing code set used for drugs and services; a J-code makes product billing more routine.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069080"/>
            <a:ext cx="82296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4E8A2D"/>
                </a:solidFill>
                <a:latin typeface="Aptos"/>
              </a:rPr>
              <a:t>Pass-through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069080"/>
            <a:ext cx="3977639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4D5656"/>
                </a:solidFill>
                <a:latin typeface="Aptos"/>
              </a:rPr>
              <a:t>Temporary OPPS separate payment for certain new outpatient drugs and biologicals.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82296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4E8A2D"/>
                </a:solidFill>
                <a:latin typeface="Aptos"/>
              </a:rPr>
              <a:t>Buy-and-bill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727448"/>
            <a:ext cx="3977639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4D5656"/>
                </a:solidFill>
                <a:latin typeface="Aptos"/>
              </a:rPr>
              <a:t>Provider buys the drug, administers it, then bills the payer.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727448"/>
            <a:ext cx="82296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4E8A2D"/>
                </a:solidFill>
                <a:latin typeface="Aptos"/>
              </a:rPr>
              <a:t>340B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727448"/>
            <a:ext cx="3977639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4D5656"/>
                </a:solidFill>
                <a:latin typeface="Aptos"/>
              </a:rPr>
              <a:t>Federal program allowing eligible hospitals to acquire outpatient drugs at discounted prices.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visyn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2240280" cy="582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1160" y="265176"/>
            <a:ext cx="164592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50" b="1">
                <a:solidFill>
                  <a:srgbClr val="4D5656"/>
                </a:solidFill>
                <a:latin typeface="Aptos"/>
              </a:rPr>
              <a:t>Beren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484632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4D5656"/>
                </a:solidFill>
                <a:latin typeface="Aptos"/>
              </a:rPr>
              <a:t>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5120640" cy="64008"/>
          </a:xfrm>
          <a:prstGeom prst="rect">
            <a:avLst/>
          </a:prstGeom>
          <a:solidFill>
            <a:srgbClr val="A6D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6492240"/>
            <a:ext cx="6126480" cy="64008"/>
          </a:xfrm>
          <a:prstGeom prst="rect">
            <a:avLst/>
          </a:prstGeom>
          <a:solidFill>
            <a:srgbClr val="265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07040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000" b="1">
                <a:solidFill>
                  <a:srgbClr val="4E8A2D"/>
                </a:solidFill>
                <a:latin typeface="Aptos"/>
              </a:rPr>
              <a:t>The core problem is provider hesitation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99031"/>
            <a:ext cx="10607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50" b="0">
                <a:solidFill>
                  <a:srgbClr val="4D5656"/>
                </a:solidFill>
                <a:latin typeface="Aptos"/>
              </a:rPr>
              <a:t>Each issue creates a direct barrier to adoption.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10424160" cy="566928"/>
          </a:xfrm>
          <a:prstGeom prst="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1947672"/>
            <a:ext cx="2039112" cy="49377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4E8A2D"/>
                </a:solidFill>
                <a:latin typeface="Aptos"/>
              </a:rPr>
              <a:t>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1947672"/>
            <a:ext cx="3959352" cy="49377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4E8A2D"/>
                </a:solidFill>
                <a:latin typeface="Aptos"/>
              </a:rPr>
              <a:t>Provider concern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1947672"/>
            <a:ext cx="4096511" cy="49377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4E8A2D"/>
                </a:solidFill>
                <a:latin typeface="Aptos"/>
              </a:rPr>
              <a:t>Impact on 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41448"/>
            <a:ext cx="10424160" cy="566928"/>
          </a:xfrm>
          <a:prstGeom prst="rect">
            <a:avLst/>
          </a:prstGeom>
          <a:solidFill>
            <a:srgbClr val="F7FAF6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" y="2505456"/>
            <a:ext cx="203911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1F2E2B"/>
                </a:solidFill>
                <a:latin typeface="Aptos"/>
              </a:rPr>
              <a:t>Acquisition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505456"/>
            <a:ext cx="395935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Provider buys high-cost drug before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2505456"/>
            <a:ext cx="4096511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Working-capital exposure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008376"/>
            <a:ext cx="10424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" y="3072384"/>
            <a:ext cx="203911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1F2E2B"/>
                </a:solidFill>
                <a:latin typeface="Aptos"/>
              </a:rPr>
              <a:t>Coding pathway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072384"/>
            <a:ext cx="395935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No product-specific code at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3072384"/>
            <a:ext cx="4096511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Manual claims and denial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75303"/>
            <a:ext cx="10424160" cy="566928"/>
          </a:xfrm>
          <a:prstGeom prst="rect">
            <a:avLst/>
          </a:prstGeom>
          <a:solidFill>
            <a:srgbClr val="F7FAF6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3639311"/>
            <a:ext cx="203911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1F2E2B"/>
                </a:solidFill>
                <a:latin typeface="Aptos"/>
              </a:rPr>
              <a:t>Payment timing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3639311"/>
            <a:ext cx="395935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30-90+ day 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639311"/>
            <a:ext cx="4096511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Cash tied up across treatment cycles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142231"/>
            <a:ext cx="10424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" y="4206240"/>
            <a:ext cx="203911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1F2E2B"/>
                </a:solidFill>
                <a:latin typeface="Aptos"/>
              </a:rPr>
              <a:t>Denials and rework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4206240"/>
            <a:ext cx="395935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Prior authorization and documentation burden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4206240"/>
            <a:ext cx="4096511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Admin cost and revenue leakage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709160"/>
            <a:ext cx="10424160" cy="566928"/>
          </a:xfrm>
          <a:prstGeom prst="rect">
            <a:avLst/>
          </a:prstGeom>
          <a:solidFill>
            <a:srgbClr val="F7FAF6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" y="4773168"/>
            <a:ext cx="203911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1F2E2B"/>
                </a:solidFill>
                <a:latin typeface="Aptos"/>
              </a:rPr>
              <a:t>Site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0944" y="4773168"/>
            <a:ext cx="3959352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White-bagging or site-of-care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4773168"/>
            <a:ext cx="4096511" cy="51206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4D5656"/>
                </a:solidFill>
                <a:latin typeface="Aptos"/>
              </a:rPr>
              <a:t>Drug margin or ability to treat may disappear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visyn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2240280" cy="582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1160" y="265176"/>
            <a:ext cx="164592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50" b="1">
                <a:solidFill>
                  <a:srgbClr val="4D5656"/>
                </a:solidFill>
                <a:latin typeface="Aptos"/>
              </a:rPr>
              <a:t>Beren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484632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4D5656"/>
                </a:solidFill>
                <a:latin typeface="Aptos"/>
              </a:rPr>
              <a:t>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5120640" cy="64008"/>
          </a:xfrm>
          <a:prstGeom prst="rect">
            <a:avLst/>
          </a:prstGeom>
          <a:solidFill>
            <a:srgbClr val="A6D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6492240"/>
            <a:ext cx="6126480" cy="64008"/>
          </a:xfrm>
          <a:prstGeom prst="rect">
            <a:avLst/>
          </a:prstGeom>
          <a:solidFill>
            <a:srgbClr val="265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07040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000" b="1">
                <a:solidFill>
                  <a:srgbClr val="4E8A2D"/>
                </a:solidFill>
                <a:latin typeface="Aptos"/>
              </a:rPr>
              <a:t>Coding is the gateway to 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99031"/>
            <a:ext cx="10607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50" b="0">
                <a:solidFill>
                  <a:srgbClr val="4D5656"/>
                </a:solidFill>
                <a:latin typeface="Aptos"/>
              </a:rPr>
              <a:t>Providers are evaluating the billing pathway, not only the drug.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2011680" cy="960120"/>
          </a:xfrm>
          <a:prstGeom prst="round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514600"/>
            <a:ext cx="16916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1F2E2B"/>
                </a:solidFill>
                <a:latin typeface="Aptos"/>
              </a:rPr>
              <a:t>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34639"/>
            <a:ext cx="16916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4D5656"/>
                </a:solidFill>
                <a:latin typeface="Aptos"/>
              </a:rPr>
              <a:t>No commercial claim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807208"/>
            <a:ext cx="466344" cy="0"/>
          </a:xfrm>
          <a:prstGeom prst="line">
            <a:avLst/>
          </a:prstGeom>
          <a:ln w="25400">
            <a:solidFill>
              <a:srgbClr val="4E8A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2331720"/>
            <a:ext cx="2011680" cy="960120"/>
          </a:xfrm>
          <a:prstGeom prst="round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514600"/>
            <a:ext cx="16916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1F2E2B"/>
                </a:solidFill>
                <a:latin typeface="Aptos"/>
              </a:rPr>
              <a:t>NOC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834639"/>
            <a:ext cx="16916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4D5656"/>
                </a:solidFill>
                <a:latin typeface="Aptos"/>
              </a:rPr>
              <a:t>Manual billing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32120" y="2807208"/>
            <a:ext cx="466344" cy="0"/>
          </a:xfrm>
          <a:prstGeom prst="line">
            <a:avLst/>
          </a:prstGeom>
          <a:ln w="25400">
            <a:solidFill>
              <a:srgbClr val="4E8A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2331720"/>
            <a:ext cx="2011680" cy="960120"/>
          </a:xfrm>
          <a:prstGeom prst="roundRect">
            <a:avLst/>
          </a:prstGeom>
          <a:solidFill>
            <a:srgbClr val="F7FAF6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514600"/>
            <a:ext cx="16916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1F2E2B"/>
                </a:solidFill>
                <a:latin typeface="Aptos"/>
              </a:rPr>
              <a:t>J-code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834639"/>
            <a:ext cx="16916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4D5656"/>
                </a:solidFill>
                <a:latin typeface="Aptos"/>
              </a:rPr>
              <a:t>Standardized billing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2807208"/>
            <a:ext cx="466344" cy="0"/>
          </a:xfrm>
          <a:prstGeom prst="line">
            <a:avLst/>
          </a:prstGeom>
          <a:ln w="25400">
            <a:solidFill>
              <a:srgbClr val="4E8A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0" y="2331720"/>
            <a:ext cx="2011680" cy="960120"/>
          </a:xfrm>
          <a:prstGeom prst="roundRect">
            <a:avLst/>
          </a:prstGeom>
          <a:solidFill>
            <a:srgbClr val="F7FAF6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51392" y="2514600"/>
            <a:ext cx="16916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1F2E2B"/>
                </a:solidFill>
                <a:latin typeface="Aptos"/>
              </a:rPr>
              <a:t>Stable billing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2834639"/>
            <a:ext cx="16916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4D5656"/>
                </a:solidFill>
                <a:latin typeface="Aptos"/>
              </a:rPr>
              <a:t>Routine pathway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822191"/>
            <a:ext cx="329184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8C3D2B"/>
                </a:solidFill>
                <a:latin typeface="Aptos"/>
              </a:rPr>
              <a:t>Launch risk: manual billing + high denial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22191"/>
            <a:ext cx="25603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4E8A2D"/>
                </a:solidFill>
                <a:latin typeface="Aptos"/>
              </a:rPr>
              <a:t>Target state: standardized billing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617720"/>
            <a:ext cx="9966960" cy="749808"/>
          </a:xfrm>
          <a:prstGeom prst="roundRect">
            <a:avLst/>
          </a:prstGeom>
          <a:solidFill>
            <a:srgbClr val="1F2E2B"/>
          </a:solidFill>
          <a:ln w="9525">
            <a:solidFill>
              <a:srgbClr val="1F2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828032"/>
            <a:ext cx="9235440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Why it matters: coding determines how quickly the provider can submit a clean claim and get paid.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visyn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2240280" cy="582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1160" y="265176"/>
            <a:ext cx="164592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50" b="1">
                <a:solidFill>
                  <a:srgbClr val="4D5656"/>
                </a:solidFill>
                <a:latin typeface="Aptos"/>
              </a:rPr>
              <a:t>Beren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484632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4D5656"/>
                </a:solidFill>
                <a:latin typeface="Aptos"/>
              </a:rPr>
              <a:t>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5120640" cy="64008"/>
          </a:xfrm>
          <a:prstGeom prst="rect">
            <a:avLst/>
          </a:prstGeom>
          <a:solidFill>
            <a:srgbClr val="A6D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6492240"/>
            <a:ext cx="6126480" cy="64008"/>
          </a:xfrm>
          <a:prstGeom prst="rect">
            <a:avLst/>
          </a:prstGeom>
          <a:solidFill>
            <a:srgbClr val="265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07040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000" b="1">
                <a:solidFill>
                  <a:srgbClr val="4E8A2D"/>
                </a:solidFill>
                <a:latin typeface="Aptos"/>
              </a:rPr>
              <a:t>Pass-through can stabilize early adoption, but only temporarily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99031"/>
            <a:ext cx="10607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50" b="0">
                <a:solidFill>
                  <a:srgbClr val="4D5656"/>
                </a:solidFill>
                <a:latin typeface="Aptos"/>
              </a:rPr>
              <a:t>EAP experience does not prove commercial viability.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9052560" cy="502920"/>
          </a:xfrm>
          <a:prstGeom prst="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764792"/>
            <a:ext cx="1947672" cy="4297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4E8A2D"/>
                </a:solidFill>
                <a:latin typeface="Aptos"/>
              </a:rPr>
              <a:t>Pass-through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1764792"/>
            <a:ext cx="3685032" cy="4297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4E8A2D"/>
                </a:solidFill>
                <a:latin typeface="Aptos"/>
              </a:rPr>
              <a:t>Payment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2824" y="1764792"/>
            <a:ext cx="3090672" cy="4297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4E8A2D"/>
                </a:solidFill>
                <a:latin typeface="Aptos"/>
              </a:rPr>
              <a:t>Provider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94560"/>
            <a:ext cx="9052560" cy="502920"/>
          </a:xfrm>
          <a:prstGeom prst="rect">
            <a:avLst/>
          </a:prstGeom>
          <a:solidFill>
            <a:srgbClr val="F7FAF6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258568"/>
            <a:ext cx="1947672" cy="4480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F2E2B"/>
                </a:solidFill>
                <a:latin typeface="Aptos"/>
              </a:rPr>
              <a:t>No pass-through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258568"/>
            <a:ext cx="3685032" cy="4480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0">
                <a:solidFill>
                  <a:srgbClr val="4D5656"/>
                </a:solidFill>
                <a:latin typeface="Aptos"/>
              </a:rPr>
              <a:t>Drug may be bundled or manually 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2258568"/>
            <a:ext cx="3090672" cy="4480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0">
                <a:solidFill>
                  <a:srgbClr val="4D5656"/>
                </a:solidFill>
                <a:latin typeface="Aptos"/>
              </a:rPr>
              <a:t>High margin uncertainty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697480"/>
            <a:ext cx="9052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61488"/>
            <a:ext cx="1947672" cy="4480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F2E2B"/>
                </a:solidFill>
                <a:latin typeface="Aptos"/>
              </a:rPr>
              <a:t>Pass-through 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4" y="2761488"/>
            <a:ext cx="3685032" cy="4480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0">
                <a:solidFill>
                  <a:srgbClr val="4D5656"/>
                </a:solidFill>
                <a:latin typeface="Aptos"/>
              </a:rPr>
              <a:t>Temporary separate OPPS 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2761488"/>
            <a:ext cx="3090672" cy="4480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0">
                <a:solidFill>
                  <a:srgbClr val="4D5656"/>
                </a:solidFill>
                <a:latin typeface="Aptos"/>
              </a:rPr>
              <a:t>Improves early payment visibility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00400"/>
            <a:ext cx="9052560" cy="502920"/>
          </a:xfrm>
          <a:prstGeom prst="rect">
            <a:avLst/>
          </a:prstGeom>
          <a:solidFill>
            <a:srgbClr val="F7FAF6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64408"/>
            <a:ext cx="1947672" cy="4480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F2E2B"/>
                </a:solidFill>
                <a:latin typeface="Aptos"/>
              </a:rPr>
              <a:t>After expiration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3264408"/>
            <a:ext cx="3685032" cy="4480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0">
                <a:solidFill>
                  <a:srgbClr val="4D5656"/>
                </a:solidFill>
                <a:latin typeface="Aptos"/>
              </a:rPr>
              <a:t>Economics rely on coding and contracting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3264408"/>
            <a:ext cx="3090672" cy="4480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0">
                <a:solidFill>
                  <a:srgbClr val="4D5656"/>
                </a:solidFill>
                <a:latin typeface="Aptos"/>
              </a:rPr>
              <a:t>Long-term viability must be proven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356616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4E8A2D"/>
                </a:solidFill>
                <a:latin typeface="Aptos"/>
              </a:rPr>
              <a:t>EAP vs commercial buy-and-bill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251960"/>
            <a:ext cx="7909560" cy="384048"/>
          </a:xfrm>
          <a:prstGeom prst="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4325112"/>
            <a:ext cx="1490472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4E8A2D"/>
                </a:solidFill>
                <a:latin typeface="Aptos"/>
              </a:rPr>
              <a:t>Dimension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864" y="4325112"/>
            <a:ext cx="2724912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4E8A2D"/>
                </a:solidFill>
                <a:latin typeface="Aptos"/>
              </a:rPr>
              <a:t>EAP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3" y="4325112"/>
            <a:ext cx="3364991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4E8A2D"/>
                </a:solidFill>
                <a:latin typeface="Aptos"/>
              </a:rPr>
              <a:t>Commercial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636008"/>
            <a:ext cx="7909560" cy="384048"/>
          </a:xfrm>
          <a:prstGeom prst="rect">
            <a:avLst/>
          </a:prstGeom>
          <a:solidFill>
            <a:srgbClr val="F7FAF6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4700016"/>
            <a:ext cx="1490472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1F2E2B"/>
                </a:solidFill>
                <a:latin typeface="Aptos"/>
              </a:rPr>
              <a:t>Drug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0864" y="4700016"/>
            <a:ext cx="2724912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0">
                <a:solidFill>
                  <a:srgbClr val="4D5656"/>
                </a:solidFill>
                <a:latin typeface="Aptos"/>
              </a:rPr>
              <a:t>Often free or subsidized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3" y="4700016"/>
            <a:ext cx="3364991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0">
                <a:solidFill>
                  <a:srgbClr val="4D5656"/>
                </a:solidFill>
                <a:latin typeface="Aptos"/>
              </a:rPr>
              <a:t>Provider purchases at WAC or 340B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020056"/>
            <a:ext cx="7909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" y="5084064"/>
            <a:ext cx="1490472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1F2E2B"/>
                </a:solidFill>
                <a:latin typeface="Aptos"/>
              </a:rPr>
              <a:t>Billing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40864" y="5084064"/>
            <a:ext cx="2724912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0">
                <a:solidFill>
                  <a:srgbClr val="4D5656"/>
                </a:solidFill>
                <a:latin typeface="Aptos"/>
              </a:rPr>
              <a:t>Minimal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5503" y="5084064"/>
            <a:ext cx="3364991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0">
                <a:solidFill>
                  <a:srgbClr val="4D5656"/>
                </a:solidFill>
                <a:latin typeface="Aptos"/>
              </a:rPr>
              <a:t>Full coding and claims burden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404104"/>
            <a:ext cx="7909560" cy="384048"/>
          </a:xfrm>
          <a:prstGeom prst="rect">
            <a:avLst/>
          </a:prstGeom>
          <a:solidFill>
            <a:srgbClr val="F7FAF6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5468112"/>
            <a:ext cx="1490472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1F2E2B"/>
                </a:solidFill>
                <a:latin typeface="Aptos"/>
              </a:rPr>
              <a:t>Financial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40864" y="5468112"/>
            <a:ext cx="2724912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0">
                <a:solidFill>
                  <a:srgbClr val="4D5656"/>
                </a:solidFill>
                <a:latin typeface="Aptos"/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75503" y="5468112"/>
            <a:ext cx="3364991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0">
                <a:solidFill>
                  <a:srgbClr val="4D5656"/>
                </a:solidFill>
                <a:latin typeface="Aptos"/>
              </a:rPr>
              <a:t>High until paid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4160520"/>
            <a:ext cx="2240280" cy="1234440"/>
          </a:xfrm>
          <a:prstGeom prst="round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4407408"/>
            <a:ext cx="13716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4E8A2D"/>
                </a:solidFill>
                <a:latin typeface="Aptos"/>
              </a:rPr>
              <a:t>Key read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736592"/>
            <a:ext cx="1645920" cy="38404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F2E2B"/>
                </a:solidFill>
                <a:latin typeface="Aptos"/>
              </a:rPr>
              <a:t>A center that treats in EAP may still decline commercial launch.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visyn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2240280" cy="582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1160" y="265176"/>
            <a:ext cx="164592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50" b="1">
                <a:solidFill>
                  <a:srgbClr val="4D5656"/>
                </a:solidFill>
                <a:latin typeface="Aptos"/>
              </a:rPr>
              <a:t>Beren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484632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4D5656"/>
                </a:solidFill>
                <a:latin typeface="Aptos"/>
              </a:rPr>
              <a:t>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5120640" cy="64008"/>
          </a:xfrm>
          <a:prstGeom prst="rect">
            <a:avLst/>
          </a:prstGeom>
          <a:solidFill>
            <a:srgbClr val="A6D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6492240"/>
            <a:ext cx="6126480" cy="64008"/>
          </a:xfrm>
          <a:prstGeom prst="rect">
            <a:avLst/>
          </a:prstGeom>
          <a:solidFill>
            <a:srgbClr val="265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07040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000" b="1">
                <a:solidFill>
                  <a:srgbClr val="4E8A2D"/>
                </a:solidFill>
                <a:latin typeface="Aptos"/>
              </a:rPr>
              <a:t>Payer friction is structural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99031"/>
            <a:ext cx="10607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50" b="0">
                <a:solidFill>
                  <a:srgbClr val="4D5656"/>
                </a:solidFill>
                <a:latin typeface="Aptos"/>
              </a:rPr>
              <a:t>Payer rules can decide whether the provider can treat, will treat, or loses money treating.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2880360" cy="2057400"/>
          </a:xfrm>
          <a:prstGeom prst="roundRect">
            <a:avLst/>
          </a:prstGeom>
          <a:solidFill>
            <a:srgbClr val="F7FAF6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2496312"/>
            <a:ext cx="201168" cy="201168"/>
          </a:xfrm>
          <a:prstGeom prst="ellipse">
            <a:avLst/>
          </a:prstGeom>
          <a:solidFill>
            <a:srgbClr val="4E8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2359152"/>
            <a:ext cx="19202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1F2E2B"/>
                </a:solidFill>
                <a:latin typeface="Aptos"/>
              </a:rPr>
              <a:t>Prior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816352"/>
            <a:ext cx="2057400" cy="8229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4D5656"/>
                </a:solidFill>
                <a:latin typeface="Aptos"/>
              </a:rPr>
              <a:t>Approval before treatment. Delays care and weakens claim certainty.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148840"/>
            <a:ext cx="2880360" cy="2057400"/>
          </a:xfrm>
          <a:prstGeom prst="roundRect">
            <a:avLst/>
          </a:prstGeom>
          <a:solidFill>
            <a:srgbClr val="F7FAF6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09160" y="2496312"/>
            <a:ext cx="201168" cy="201168"/>
          </a:xfrm>
          <a:prstGeom prst="ellipse">
            <a:avLst/>
          </a:prstGeom>
          <a:solidFill>
            <a:srgbClr val="4E8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2359152"/>
            <a:ext cx="19202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1F2E2B"/>
                </a:solidFill>
                <a:latin typeface="Aptos"/>
              </a:rPr>
              <a:t>White-bagging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816352"/>
            <a:ext cx="2057400" cy="8229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4D5656"/>
                </a:solidFill>
                <a:latin typeface="Aptos"/>
              </a:rPr>
              <a:t>Payer pharmacy ships drug. Provider loses drug spread and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48840"/>
            <a:ext cx="2880360" cy="2057400"/>
          </a:xfrm>
          <a:prstGeom prst="roundRect">
            <a:avLst/>
          </a:prstGeom>
          <a:solidFill>
            <a:srgbClr val="F7FAF6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20" y="2496312"/>
            <a:ext cx="201168" cy="201168"/>
          </a:xfrm>
          <a:prstGeom prst="ellipse">
            <a:avLst/>
          </a:prstGeom>
          <a:solidFill>
            <a:srgbClr val="4E8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2359152"/>
            <a:ext cx="19202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1F2E2B"/>
                </a:solidFill>
                <a:latin typeface="Aptos"/>
              </a:rPr>
              <a:t>Site-of-care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816352"/>
            <a:ext cx="2057400" cy="8229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4D5656"/>
                </a:solidFill>
                <a:latin typeface="Aptos"/>
              </a:rPr>
              <a:t>Payer steers setting. Hospital economics may not hold.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9784080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4E8A2D"/>
                </a:solidFill>
                <a:latin typeface="Aptos"/>
              </a:rPr>
              <a:t>Why it matters: these controls can erase the provider's economic reason to activate a 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visyn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2240280" cy="582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1160" y="265176"/>
            <a:ext cx="164592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50" b="1">
                <a:solidFill>
                  <a:srgbClr val="4D5656"/>
                </a:solidFill>
                <a:latin typeface="Aptos"/>
              </a:rPr>
              <a:t>Beren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484632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4D5656"/>
                </a:solidFill>
                <a:latin typeface="Aptos"/>
              </a:rPr>
              <a:t>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5120640" cy="64008"/>
          </a:xfrm>
          <a:prstGeom prst="rect">
            <a:avLst/>
          </a:prstGeom>
          <a:solidFill>
            <a:srgbClr val="A6D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6492240"/>
            <a:ext cx="6126480" cy="64008"/>
          </a:xfrm>
          <a:prstGeom prst="rect">
            <a:avLst/>
          </a:prstGeom>
          <a:solidFill>
            <a:srgbClr val="265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07040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000" b="1">
                <a:solidFill>
                  <a:srgbClr val="4E8A2D"/>
                </a:solidFill>
                <a:latin typeface="Aptos"/>
              </a:rPr>
              <a:t>340B can be the difference between early adoption and avoidance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99031"/>
            <a:ext cx="10607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50" b="0">
                <a:solidFill>
                  <a:srgbClr val="4D5656"/>
                </a:solidFill>
                <a:latin typeface="Aptos"/>
              </a:rPr>
              <a:t>Acquisition economics shape which centers can take launch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10195560" cy="603504"/>
          </a:xfrm>
          <a:prstGeom prst="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47672"/>
            <a:ext cx="1536192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4E8A2D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2304" y="1947672"/>
            <a:ext cx="2221991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4E8A2D"/>
                </a:solidFill>
                <a:latin typeface="Aptos"/>
              </a:rPr>
              <a:t>Acquisition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947672"/>
            <a:ext cx="2221991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4E8A2D"/>
                </a:solidFill>
                <a:latin typeface="Aptos"/>
              </a:rPr>
              <a:t>Reimbursement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5744" y="1947672"/>
            <a:ext cx="3776472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4E8A2D"/>
                </a:solidFill>
                <a:latin typeface="Aptos"/>
              </a:rPr>
              <a:t>Margin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78024"/>
            <a:ext cx="10195560" cy="603504"/>
          </a:xfrm>
          <a:prstGeom prst="rect">
            <a:avLst/>
          </a:prstGeom>
          <a:solidFill>
            <a:srgbClr val="F7FAF6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542032"/>
            <a:ext cx="1536192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1">
                <a:solidFill>
                  <a:srgbClr val="1F2E2B"/>
                </a:solidFill>
                <a:latin typeface="Aptos"/>
              </a:rPr>
              <a:t>Non-340B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4" y="2542032"/>
            <a:ext cx="2221991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0">
                <a:solidFill>
                  <a:srgbClr val="4D5656"/>
                </a:solidFill>
                <a:latin typeface="Aptos"/>
              </a:rPr>
              <a:t>~$39,000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2542032"/>
            <a:ext cx="2221991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0">
                <a:solidFill>
                  <a:srgbClr val="4D5656"/>
                </a:solidFill>
                <a:latin typeface="Aptos"/>
              </a:rPr>
              <a:t>ASP/WAC-based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542032"/>
            <a:ext cx="3776472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0">
                <a:solidFill>
                  <a:srgbClr val="4D5656"/>
                </a:solidFill>
                <a:latin typeface="Aptos"/>
              </a:rPr>
              <a:t>Thin or negative after delays and denials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081528"/>
            <a:ext cx="10195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145536"/>
            <a:ext cx="1536192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1">
                <a:solidFill>
                  <a:srgbClr val="1F2E2B"/>
                </a:solidFill>
                <a:latin typeface="Aptos"/>
              </a:rPr>
              <a:t>340B COE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2304" y="3145536"/>
            <a:ext cx="2221991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0">
                <a:solidFill>
                  <a:srgbClr val="4D5656"/>
                </a:solidFill>
                <a:latin typeface="Aptos"/>
              </a:rPr>
              <a:t>~$30,000 planning assumption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4024" y="3145536"/>
            <a:ext cx="2221991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0">
                <a:solidFill>
                  <a:srgbClr val="4D5656"/>
                </a:solidFill>
                <a:latin typeface="Aptos"/>
              </a:rPr>
              <a:t>Similar 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145536"/>
            <a:ext cx="3776472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0">
                <a:solidFill>
                  <a:srgbClr val="4D5656"/>
                </a:solidFill>
                <a:latin typeface="Aptos"/>
              </a:rPr>
              <a:t>Stronger per-dose margin runway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85031"/>
            <a:ext cx="10195560" cy="603504"/>
          </a:xfrm>
          <a:prstGeom prst="rect">
            <a:avLst/>
          </a:prstGeom>
          <a:solidFill>
            <a:srgbClr val="F7FAF6"/>
          </a:solidFill>
          <a:ln w="9525">
            <a:solidFill>
              <a:srgbClr val="D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749039"/>
            <a:ext cx="1536192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1">
                <a:solidFill>
                  <a:srgbClr val="1F2E2B"/>
                </a:solidFill>
                <a:latin typeface="Aptos"/>
              </a:rPr>
              <a:t>White-bagged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2304" y="3749039"/>
            <a:ext cx="2221991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0">
                <a:solidFill>
                  <a:srgbClr val="4D5656"/>
                </a:solidFill>
                <a:latin typeface="Aptos"/>
              </a:rPr>
              <a:t>No provider purchase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4024" y="3749039"/>
            <a:ext cx="2221991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0">
                <a:solidFill>
                  <a:srgbClr val="4D5656"/>
                </a:solidFill>
                <a:latin typeface="Aptos"/>
              </a:rPr>
              <a:t>Specialty pharmacy bills drug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3749039"/>
            <a:ext cx="3776472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9" b="0">
                <a:solidFill>
                  <a:srgbClr val="4D5656"/>
                </a:solidFill>
                <a:latin typeface="Aptos"/>
              </a:rPr>
              <a:t>No drug margin; admin economics matter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00600"/>
            <a:ext cx="10012680" cy="676656"/>
          </a:xfrm>
          <a:prstGeom prst="roundRect">
            <a:avLst/>
          </a:prstGeom>
          <a:solidFill>
            <a:srgbClr val="1F2E2B"/>
          </a:solidFill>
          <a:ln w="9525">
            <a:solidFill>
              <a:srgbClr val="1F2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001768"/>
            <a:ext cx="91440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Key read: early adoption likely concentrates where acquisition economics and billing readiness both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visyn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2240280" cy="582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1160" y="265176"/>
            <a:ext cx="164592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50" b="1">
                <a:solidFill>
                  <a:srgbClr val="4D5656"/>
                </a:solidFill>
                <a:latin typeface="Aptos"/>
              </a:rPr>
              <a:t>Beren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484632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4D5656"/>
                </a:solidFill>
                <a:latin typeface="Aptos"/>
              </a:rPr>
              <a:t>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5120640" cy="64008"/>
          </a:xfrm>
          <a:prstGeom prst="rect">
            <a:avLst/>
          </a:prstGeom>
          <a:solidFill>
            <a:srgbClr val="A6D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6492240"/>
            <a:ext cx="6126480" cy="64008"/>
          </a:xfrm>
          <a:prstGeom prst="rect">
            <a:avLst/>
          </a:prstGeom>
          <a:solidFill>
            <a:srgbClr val="265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07040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000" b="1">
                <a:solidFill>
                  <a:srgbClr val="4E8A2D"/>
                </a:solidFill>
                <a:latin typeface="Aptos"/>
              </a:rPr>
              <a:t>The calculator turns complexity into a provider go / no-go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99031"/>
            <a:ext cx="10607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50" b="0">
                <a:solidFill>
                  <a:srgbClr val="4D5656"/>
                </a:solidFill>
                <a:latin typeface="Aptos"/>
              </a:rPr>
              <a:t>Leadership sees margin, cash exposure, and break-even support by scenario.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03120"/>
            <a:ext cx="2880360" cy="1920240"/>
          </a:xfrm>
          <a:prstGeom prst="round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423160"/>
            <a:ext cx="219456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900" b="1">
                <a:solidFill>
                  <a:srgbClr val="1F2E2B"/>
                </a:solidFill>
                <a:latin typeface="Aptos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89504"/>
            <a:ext cx="2240280" cy="7498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60" b="0">
                <a:solidFill>
                  <a:srgbClr val="4D5656"/>
                </a:solidFill>
                <a:latin typeface="Aptos"/>
              </a:rPr>
              <a:t>Coding status, Pass-through status, Site of care, Payer mix, 340B eligibility, Buy-and-bill vs white-bagging, Denials and payment timing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30752" y="3063240"/>
            <a:ext cx="749808" cy="0"/>
          </a:xfrm>
          <a:prstGeom prst="line">
            <a:avLst/>
          </a:prstGeom>
          <a:ln w="25400">
            <a:solidFill>
              <a:srgbClr val="4E8A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2103120"/>
            <a:ext cx="2880360" cy="1920240"/>
          </a:xfrm>
          <a:prstGeom prst="roundRect">
            <a:avLst/>
          </a:prstGeom>
          <a:solidFill>
            <a:srgbClr val="F7FAF6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2423160"/>
            <a:ext cx="219456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900" b="1">
                <a:solidFill>
                  <a:srgbClr val="1F2E2B"/>
                </a:solidFill>
                <a:latin typeface="Aptos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889504"/>
            <a:ext cx="2240280" cy="7498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60" b="0">
                <a:solidFill>
                  <a:srgbClr val="4D5656"/>
                </a:solidFill>
                <a:latin typeface="Aptos"/>
              </a:rPr>
              <a:t>Expected net provider position after payment, acquisition, denial, rework, labor, and carrying cost.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79792" y="3063240"/>
            <a:ext cx="749808" cy="0"/>
          </a:xfrm>
          <a:prstGeom prst="line">
            <a:avLst/>
          </a:prstGeom>
          <a:ln w="25400">
            <a:solidFill>
              <a:srgbClr val="4E8A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21040" y="2103120"/>
            <a:ext cx="2880360" cy="1920240"/>
          </a:xfrm>
          <a:prstGeom prst="round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2423160"/>
            <a:ext cx="219456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900" b="1">
                <a:solidFill>
                  <a:srgbClr val="1F2E2B"/>
                </a:solidFill>
                <a:latin typeface="Aptos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889504"/>
            <a:ext cx="2240280" cy="7498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60" b="0">
                <a:solidFill>
                  <a:srgbClr val="4D5656"/>
                </a:solidFill>
                <a:latin typeface="Aptos"/>
              </a:rPr>
              <a:t>Per-dose margin, Annual exposure, Cash flow burden, Break-even support, Adoption viability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92040"/>
            <a:ext cx="969264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4E8A2D"/>
                </a:solidFill>
                <a:latin typeface="Aptos"/>
              </a:rPr>
              <a:t>Primary output: Does this provider make or lose money treating this patient?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visyn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2240280" cy="582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1160" y="265176"/>
            <a:ext cx="164592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50" b="1">
                <a:solidFill>
                  <a:srgbClr val="4D5656"/>
                </a:solidFill>
                <a:latin typeface="Aptos"/>
              </a:rPr>
              <a:t>Beren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484632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4D5656"/>
                </a:solidFill>
                <a:latin typeface="Aptos"/>
              </a:rPr>
              <a:t>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5120640" cy="64008"/>
          </a:xfrm>
          <a:prstGeom prst="rect">
            <a:avLst/>
          </a:prstGeom>
          <a:solidFill>
            <a:srgbClr val="A6D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6492240"/>
            <a:ext cx="6126480" cy="64008"/>
          </a:xfrm>
          <a:prstGeom prst="rect">
            <a:avLst/>
          </a:prstGeom>
          <a:solidFill>
            <a:srgbClr val="265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2743200" cy="38404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4D5656"/>
                </a:solidFill>
                <a:latin typeface="Aptos"/>
              </a:rPr>
              <a:t>Bottom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9052560" cy="1508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800" b="1">
                <a:solidFill>
                  <a:srgbClr val="4E8A2D"/>
                </a:solidFill>
                <a:latin typeface="Aptos"/>
              </a:rPr>
              <a:t>Providers adopt when treatment is financially viable, not only when clinically convinced.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023360"/>
            <a:ext cx="2971800" cy="987552"/>
          </a:xfrm>
          <a:prstGeom prst="roundRect">
            <a:avLst/>
          </a:prstGeom>
          <a:solidFill>
            <a:srgbClr val="F7FAF6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4279392"/>
            <a:ext cx="173736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8C3D2B"/>
                </a:solidFill>
                <a:latin typeface="Aptos"/>
              </a:rPr>
              <a:t>Without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4572000"/>
            <a:ext cx="224028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40" b="0">
                <a:solidFill>
                  <a:srgbClr val="4D5656"/>
                </a:solidFill>
                <a:latin typeface="Aptos"/>
              </a:rPr>
              <a:t>Adoption may be overestimated because EAP use and clinical interest are misread as commercial readiness.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023360"/>
            <a:ext cx="2971800" cy="987552"/>
          </a:xfrm>
          <a:prstGeom prst="roundRect">
            <a:avLst/>
          </a:prstGeom>
          <a:solidFill>
            <a:srgbClr val="EEF5EA"/>
          </a:solidFill>
          <a:ln w="9525">
            <a:solidFill>
              <a:srgbClr val="C7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4279392"/>
            <a:ext cx="173736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4E8A2D"/>
                </a:solidFill>
                <a:latin typeface="Aptos"/>
              </a:rPr>
              <a:t>With 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4572000"/>
            <a:ext cx="224028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40" b="0">
                <a:solidFill>
                  <a:srgbClr val="4D5656"/>
                </a:solidFill>
                <a:latin typeface="Aptos"/>
              </a:rPr>
              <a:t>Leadership sees which sites, channels, and support levers make treatment financially viable.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023360"/>
            <a:ext cx="2606040" cy="987552"/>
          </a:xfrm>
          <a:prstGeom prst="roundRect">
            <a:avLst/>
          </a:prstGeom>
          <a:solidFill>
            <a:srgbClr val="1F2E2B"/>
          </a:solidFill>
          <a:ln w="9525">
            <a:solidFill>
              <a:srgbClr val="1F2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4279392"/>
            <a:ext cx="155448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Use the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4572000"/>
            <a:ext cx="182880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40" b="0">
                <a:solidFill>
                  <a:srgbClr val="FFFFFF"/>
                </a:solidFill>
                <a:latin typeface="Aptos"/>
              </a:rPr>
              <a:t>Prioritize launch sites and field reimbursement strategy by provider economics.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